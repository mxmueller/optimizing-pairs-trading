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258" r:id="rId2"/>
  </p:sldIdLst>
  <p:sldSz cx="31000700" cy="43529250"/>
  <p:notesSz cx="7099300" cy="10234613"/>
  <p:defaultTextStyle>
    <a:defPPr>
      <a:defRPr lang="de-DE"/>
    </a:defPPr>
    <a:lvl1pPr marL="0" algn="l" defTabSz="4258627" rtl="0" eaLnBrk="1" latinLnBrk="0" hangingPunct="1">
      <a:defRPr sz="8300" kern="1200">
        <a:solidFill>
          <a:schemeClr val="tx1"/>
        </a:solidFill>
        <a:latin typeface="+mn-lt"/>
        <a:ea typeface="+mn-ea"/>
        <a:cs typeface="+mn-cs"/>
      </a:defRPr>
    </a:lvl1pPr>
    <a:lvl2pPr marL="2129312" algn="l" defTabSz="4258627" rtl="0" eaLnBrk="1" latinLnBrk="0" hangingPunct="1">
      <a:defRPr sz="8300" kern="1200">
        <a:solidFill>
          <a:schemeClr val="tx1"/>
        </a:solidFill>
        <a:latin typeface="+mn-lt"/>
        <a:ea typeface="+mn-ea"/>
        <a:cs typeface="+mn-cs"/>
      </a:defRPr>
    </a:lvl2pPr>
    <a:lvl3pPr marL="4258627" algn="l" defTabSz="4258627" rtl="0" eaLnBrk="1" latinLnBrk="0" hangingPunct="1">
      <a:defRPr sz="8300" kern="1200">
        <a:solidFill>
          <a:schemeClr val="tx1"/>
        </a:solidFill>
        <a:latin typeface="+mn-lt"/>
        <a:ea typeface="+mn-ea"/>
        <a:cs typeface="+mn-cs"/>
      </a:defRPr>
    </a:lvl3pPr>
    <a:lvl4pPr marL="6387939" algn="l" defTabSz="4258627" rtl="0" eaLnBrk="1" latinLnBrk="0" hangingPunct="1">
      <a:defRPr sz="8300" kern="1200">
        <a:solidFill>
          <a:schemeClr val="tx1"/>
        </a:solidFill>
        <a:latin typeface="+mn-lt"/>
        <a:ea typeface="+mn-ea"/>
        <a:cs typeface="+mn-cs"/>
      </a:defRPr>
    </a:lvl4pPr>
    <a:lvl5pPr marL="8517252" algn="l" defTabSz="4258627" rtl="0" eaLnBrk="1" latinLnBrk="0" hangingPunct="1">
      <a:defRPr sz="8300" kern="1200">
        <a:solidFill>
          <a:schemeClr val="tx1"/>
        </a:solidFill>
        <a:latin typeface="+mn-lt"/>
        <a:ea typeface="+mn-ea"/>
        <a:cs typeface="+mn-cs"/>
      </a:defRPr>
    </a:lvl5pPr>
    <a:lvl6pPr marL="10646565" algn="l" defTabSz="4258627" rtl="0" eaLnBrk="1" latinLnBrk="0" hangingPunct="1">
      <a:defRPr sz="8300" kern="1200">
        <a:solidFill>
          <a:schemeClr val="tx1"/>
        </a:solidFill>
        <a:latin typeface="+mn-lt"/>
        <a:ea typeface="+mn-ea"/>
        <a:cs typeface="+mn-cs"/>
      </a:defRPr>
    </a:lvl6pPr>
    <a:lvl7pPr marL="12775879" algn="l" defTabSz="4258627" rtl="0" eaLnBrk="1" latinLnBrk="0" hangingPunct="1">
      <a:defRPr sz="8300" kern="1200">
        <a:solidFill>
          <a:schemeClr val="tx1"/>
        </a:solidFill>
        <a:latin typeface="+mn-lt"/>
        <a:ea typeface="+mn-ea"/>
        <a:cs typeface="+mn-cs"/>
      </a:defRPr>
    </a:lvl7pPr>
    <a:lvl8pPr marL="14905191" algn="l" defTabSz="4258627" rtl="0" eaLnBrk="1" latinLnBrk="0" hangingPunct="1">
      <a:defRPr sz="8300" kern="1200">
        <a:solidFill>
          <a:schemeClr val="tx1"/>
        </a:solidFill>
        <a:latin typeface="+mn-lt"/>
        <a:ea typeface="+mn-ea"/>
        <a:cs typeface="+mn-cs"/>
      </a:defRPr>
    </a:lvl8pPr>
    <a:lvl9pPr marL="17034505" algn="l" defTabSz="4258627" rtl="0" eaLnBrk="1" latinLnBrk="0" hangingPunct="1">
      <a:defRPr sz="8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755">
          <p15:clr>
            <a:srgbClr val="A4A3A4"/>
          </p15:clr>
        </p15:guide>
        <p15:guide id="2" orient="horz" pos="21136">
          <p15:clr>
            <a:srgbClr val="A4A3A4"/>
          </p15:clr>
        </p15:guide>
        <p15:guide id="3" orient="horz" pos="5319">
          <p15:clr>
            <a:srgbClr val="A4A3A4"/>
          </p15:clr>
        </p15:guide>
        <p15:guide id="4" pos="13075">
          <p15:clr>
            <a:srgbClr val="A4A3A4"/>
          </p15:clr>
        </p15:guide>
        <p15:guide id="5" pos="13529">
          <p15:clr>
            <a:srgbClr val="A4A3A4"/>
          </p15:clr>
        </p15:guide>
        <p15:guide id="6" pos="18564">
          <p15:clr>
            <a:srgbClr val="A4A3A4"/>
          </p15:clr>
        </p15:guide>
        <p15:guide id="7" pos="1373">
          <p15:clr>
            <a:srgbClr val="A4A3A4"/>
          </p15:clr>
        </p15:guide>
        <p15:guide id="8" pos="6327">
          <p15:clr>
            <a:srgbClr val="A4A3A4"/>
          </p15:clr>
        </p15:guide>
        <p15:guide id="9" pos="6607">
          <p15:clr>
            <a:srgbClr val="A4A3A4"/>
          </p15:clr>
        </p15:guide>
        <p15:guide id="10" pos="5120">
          <p15:clr>
            <a:srgbClr val="A4A3A4"/>
          </p15:clr>
        </p15:guide>
        <p15:guide id="11" pos="1735">
          <p15:clr>
            <a:srgbClr val="A4A3A4"/>
          </p15:clr>
        </p15:guide>
        <p15:guide id="12" pos="19380">
          <p15:clr>
            <a:srgbClr val="A4A3A4"/>
          </p15:clr>
        </p15:guide>
        <p15:guide id="13" pos="13756">
          <p15:clr>
            <a:srgbClr val="A4A3A4"/>
          </p15:clr>
        </p15:guide>
        <p15:guide id="14" pos="1117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5D686E"/>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97" autoAdjust="0"/>
    <p:restoredTop sz="94711"/>
  </p:normalViewPr>
  <p:slideViewPr>
    <p:cSldViewPr showGuides="1">
      <p:cViewPr varScale="1">
        <p:scale>
          <a:sx n="32" d="100"/>
          <a:sy n="32" d="100"/>
        </p:scale>
        <p:origin x="2928" y="208"/>
      </p:cViewPr>
      <p:guideLst>
        <p:guide orient="horz" pos="13755"/>
        <p:guide orient="horz" pos="21136"/>
        <p:guide orient="horz" pos="5319"/>
        <p:guide pos="13075"/>
        <p:guide pos="13529"/>
        <p:guide pos="18564"/>
        <p:guide pos="1373"/>
        <p:guide pos="6327"/>
        <p:guide pos="6607"/>
        <p:guide pos="5120"/>
        <p:guide pos="1735"/>
        <p:guide pos="19380"/>
        <p:guide pos="13756"/>
        <p:guide pos="1117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EU">
    <p:spTree>
      <p:nvGrpSpPr>
        <p:cNvPr id="1" name=""/>
        <p:cNvGrpSpPr/>
        <p:nvPr/>
      </p:nvGrpSpPr>
      <p:grpSpPr>
        <a:xfrm>
          <a:off x="0" y="0"/>
          <a:ext cx="0" cy="0"/>
          <a:chOff x="0" y="0"/>
          <a:chExt cx="0" cy="0"/>
        </a:xfrm>
      </p:grpSpPr>
      <p:sp>
        <p:nvSpPr>
          <p:cNvPr id="26" name="Textplatzhalter 17"/>
          <p:cNvSpPr txBox="1">
            <a:spLocks/>
          </p:cNvSpPr>
          <p:nvPr userDrawn="1"/>
        </p:nvSpPr>
        <p:spPr>
          <a:xfrm>
            <a:off x="20736000" y="23463040"/>
            <a:ext cx="10008000" cy="14292000"/>
          </a:xfrm>
          <a:prstGeom prst="rect">
            <a:avLst/>
          </a:prstGeom>
          <a:solidFill>
            <a:srgbClr val="EDEDED"/>
          </a:solidFill>
        </p:spPr>
        <p:txBody>
          <a:bodyPr vert="horz" wrap="square" lIns="756000" tIns="432000" rIns="1080000" bIns="180000" rtlCol="0">
            <a:noAutofit/>
          </a:bodyPr>
          <a:lstStyle>
            <a:lvl1pPr marL="0" indent="0" algn="l" defTabSz="4258627" rtl="0" eaLnBrk="1" latinLnBrk="0" hangingPunct="1">
              <a:lnSpc>
                <a:spcPts val="3671"/>
              </a:lnSpc>
              <a:spcBef>
                <a:spcPts val="0"/>
              </a:spcBef>
              <a:buClr>
                <a:schemeClr val="bg1"/>
              </a:buClr>
              <a:buFont typeface="Generis Sans Com" panose="020B0506040503020204" pitchFamily="34" charset="0"/>
              <a:buNone/>
              <a:defRPr sz="3000" kern="1200" baseline="0">
                <a:solidFill>
                  <a:schemeClr val="bg1"/>
                </a:solidFill>
                <a:latin typeface="+mn-lt"/>
                <a:ea typeface="+mn-ea"/>
                <a:cs typeface="+mn-cs"/>
              </a:defRPr>
            </a:lvl1pPr>
            <a:lvl2pPr marL="369074" indent="-369074" algn="l" defTabSz="4258627" rtl="0" eaLnBrk="1" latinLnBrk="0" hangingPunct="1">
              <a:lnSpc>
                <a:spcPts val="3671"/>
              </a:lnSpc>
              <a:spcBef>
                <a:spcPts val="0"/>
              </a:spcBef>
              <a:buClr>
                <a:schemeClr val="bg1"/>
              </a:buClr>
              <a:buFont typeface="Generis Sans Com" panose="020B0506040503020204" pitchFamily="34" charset="0"/>
              <a:buChar char="»"/>
              <a:defRPr sz="3000" kern="1200">
                <a:solidFill>
                  <a:schemeClr val="bg1"/>
                </a:solidFill>
                <a:latin typeface="+mn-lt"/>
                <a:ea typeface="+mn-ea"/>
                <a:cs typeface="+mn-cs"/>
              </a:defRPr>
            </a:lvl2pPr>
            <a:lvl3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3pPr>
            <a:lvl4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4pPr>
            <a:lvl5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5pPr>
            <a:lvl6pPr marL="11711222"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6pPr>
            <a:lvl7pPr marL="13840535"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7pPr>
            <a:lvl8pPr marL="15969849"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8pPr>
            <a:lvl9pPr marL="18099161"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9pPr>
          </a:lstStyle>
          <a:p>
            <a:endParaRPr lang="de-DE" dirty="0">
              <a:solidFill>
                <a:srgbClr val="5D686E"/>
              </a:solidFill>
            </a:endParaRPr>
          </a:p>
        </p:txBody>
      </p:sp>
      <p:sp>
        <p:nvSpPr>
          <p:cNvPr id="2" name="Titel 1"/>
          <p:cNvSpPr>
            <a:spLocks noGrp="1"/>
          </p:cNvSpPr>
          <p:nvPr>
            <p:ph type="title" hasCustomPrompt="1"/>
          </p:nvPr>
        </p:nvSpPr>
        <p:spPr>
          <a:xfrm>
            <a:off x="1818830" y="1629034"/>
            <a:ext cx="16695329" cy="3221695"/>
          </a:xfrm>
        </p:spPr>
        <p:txBody>
          <a:bodyPr/>
          <a:lstStyle>
            <a:lvl1pPr>
              <a:defRPr sz="9000">
                <a:latin typeface="Georgia" panose="02040502050405020303" pitchFamily="18" charset="0"/>
              </a:defRPr>
            </a:lvl1pPr>
          </a:lstStyle>
          <a:p>
            <a:r>
              <a:rPr lang="pt-BR" dirty="0"/>
              <a:t>Titel: Ucient premporiam,</a:t>
            </a:r>
            <a:br>
              <a:rPr lang="pt-BR" dirty="0"/>
            </a:br>
            <a:r>
              <a:rPr lang="pt-BR" dirty="0"/>
              <a:t>enita eum esequisquam, nons</a:t>
            </a:r>
            <a:endParaRPr lang="de-DE" dirty="0"/>
          </a:p>
        </p:txBody>
      </p:sp>
      <p:sp>
        <p:nvSpPr>
          <p:cNvPr id="3" name="Inhaltsplatzhalter 2"/>
          <p:cNvSpPr>
            <a:spLocks noGrp="1"/>
          </p:cNvSpPr>
          <p:nvPr>
            <p:ph idx="1"/>
          </p:nvPr>
        </p:nvSpPr>
        <p:spPr>
          <a:xfrm>
            <a:off x="1854000" y="9365464"/>
            <a:ext cx="16308000" cy="3352869"/>
          </a:xfrm>
        </p:spPr>
        <p:txBody>
          <a:bodyPr wrap="square" lIns="288000" tIns="180000" rIns="288000" bIns="0">
            <a:spAutoFit/>
          </a:bodyPr>
          <a:lstStyle>
            <a:lvl1pPr marL="0" indent="0">
              <a:buClr>
                <a:schemeClr val="accent1"/>
              </a:buClr>
              <a:buFont typeface="Generis Sans Com" panose="020B0506040503020204" pitchFamily="34" charset="0"/>
              <a:buNone/>
              <a:defRPr>
                <a:latin typeface="Arial" panose="020B0604020202020204" pitchFamily="34" charset="0"/>
                <a:cs typeface="Arial" panose="020B0604020202020204" pitchFamily="34" charset="0"/>
              </a:defRPr>
            </a:lvl1pPr>
            <a:lvl2pPr marL="528638" indent="-528638">
              <a:spcBef>
                <a:spcPts val="2651"/>
              </a:spcBef>
              <a:spcAft>
                <a:spcPts val="0"/>
              </a:spcAft>
              <a:buFont typeface="Arial" panose="020B0604020202020204" pitchFamily="34" charset="0"/>
              <a:buChar char="»"/>
              <a:defRPr>
                <a:latin typeface="Arial" panose="020B0604020202020204" pitchFamily="34" charset="0"/>
                <a:cs typeface="Arial" panose="020B0604020202020204" pitchFamily="34" charset="0"/>
              </a:defRPr>
            </a:lvl2pPr>
            <a:lvl3pPr marL="528638" indent="0">
              <a:defRPr>
                <a:latin typeface="Arial" panose="020B0604020202020204" pitchFamily="34" charset="0"/>
                <a:cs typeface="Arial" panose="020B0604020202020204" pitchFamily="34" charset="0"/>
              </a:defRPr>
            </a:lvl3pPr>
            <a:lvl4pPr marL="528638" indent="0">
              <a:defRPr>
                <a:latin typeface="Arial" panose="020B0604020202020204" pitchFamily="34" charset="0"/>
                <a:cs typeface="Arial" panose="020B0604020202020204" pitchFamily="34" charset="0"/>
              </a:defRPr>
            </a:lvl4pPr>
            <a:lvl5pPr marL="528638" indent="0">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7"/>
          <p:cNvSpPr>
            <a:spLocks noGrp="1"/>
          </p:cNvSpPr>
          <p:nvPr>
            <p:ph type="body" sz="quarter" idx="13" hasCustomPrompt="1"/>
          </p:nvPr>
        </p:nvSpPr>
        <p:spPr>
          <a:xfrm>
            <a:off x="1818830" y="5035912"/>
            <a:ext cx="16695329" cy="930353"/>
          </a:xfrm>
        </p:spPr>
        <p:txBody>
          <a:bodyPr/>
          <a:lstStyle>
            <a:lvl1pPr marL="0" indent="0">
              <a:buFontTx/>
              <a:buNone/>
              <a:defRPr sz="5100" b="1">
                <a:solidFill>
                  <a:schemeClr val="accent1"/>
                </a:solidFill>
                <a:latin typeface="Arial" panose="020B0604020202020204" pitchFamily="34" charset="0"/>
                <a:cs typeface="Arial" panose="020B0604020202020204" pitchFamily="34" charset="0"/>
              </a:defRPr>
            </a:lvl1pPr>
          </a:lstStyle>
          <a:p>
            <a:pPr lvl="0"/>
            <a:r>
              <a:rPr lang="de-DE" dirty="0"/>
              <a:t>Name, Studiengang</a:t>
            </a:r>
          </a:p>
        </p:txBody>
      </p:sp>
      <p:sp>
        <p:nvSpPr>
          <p:cNvPr id="10" name="Textfeld 9"/>
          <p:cNvSpPr txBox="1"/>
          <p:nvPr/>
        </p:nvSpPr>
        <p:spPr>
          <a:xfrm>
            <a:off x="1794767" y="8069407"/>
            <a:ext cx="16704000" cy="1101323"/>
          </a:xfrm>
          <a:prstGeom prst="rect">
            <a:avLst/>
          </a:prstGeom>
          <a:noFill/>
        </p:spPr>
        <p:txBody>
          <a:bodyPr wrap="none" lIns="367085" tIns="183543" rIns="734170" bIns="183543" rtlCol="0">
            <a:noAutofit/>
          </a:bodyPr>
          <a:lstStyle/>
          <a:p>
            <a:r>
              <a:rPr lang="de-DE" sz="5600" dirty="0">
                <a:latin typeface="Georgia" panose="02040502050405020303" pitchFamily="18" charset="0"/>
              </a:rPr>
              <a:t>Projektbeschreibung</a:t>
            </a:r>
          </a:p>
        </p:txBody>
      </p:sp>
      <p:sp>
        <p:nvSpPr>
          <p:cNvPr id="15" name="Textplatzhalter 14"/>
          <p:cNvSpPr>
            <a:spLocks noGrp="1"/>
          </p:cNvSpPr>
          <p:nvPr>
            <p:ph type="body" sz="quarter" idx="14"/>
          </p:nvPr>
        </p:nvSpPr>
        <p:spPr>
          <a:xfrm>
            <a:off x="20736000" y="9223693"/>
            <a:ext cx="10008000" cy="6845340"/>
          </a:xfrm>
          <a:solidFill>
            <a:srgbClr val="EDEDED"/>
          </a:solidFill>
        </p:spPr>
        <p:txBody>
          <a:bodyPr lIns="756000" tIns="432000" rIns="1080000" bIns="180000">
            <a:noAutofit/>
          </a:bodyPr>
          <a:lstStyle>
            <a:lvl1pPr marL="0" indent="0">
              <a:lnSpc>
                <a:spcPts val="3671"/>
              </a:lnSpc>
              <a:buClr>
                <a:schemeClr val="bg1"/>
              </a:buClr>
              <a:buNone/>
              <a:defRPr sz="3000">
                <a:solidFill>
                  <a:srgbClr val="5D686E"/>
                </a:solidFill>
                <a:latin typeface="Arial" panose="020B0604020202020204" pitchFamily="34" charset="0"/>
                <a:cs typeface="Arial" panose="020B0604020202020204" pitchFamily="34" charset="0"/>
              </a:defRPr>
            </a:lvl1pPr>
            <a:lvl2pPr marL="369074" indent="-369074">
              <a:lnSpc>
                <a:spcPts val="3671"/>
              </a:lnSpc>
              <a:spcBef>
                <a:spcPts val="2346"/>
              </a:spcBef>
              <a:buClr>
                <a:srgbClr val="5D686E"/>
              </a:buClr>
              <a:buFont typeface="Arial" panose="020B0604020202020204" pitchFamily="34" charset="0"/>
              <a:buChar char="»"/>
              <a:defRPr sz="3000">
                <a:solidFill>
                  <a:srgbClr val="5D686E"/>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a:p>
            <a:pPr lvl="1"/>
            <a:r>
              <a:rPr lang="de-DE" dirty="0"/>
              <a:t>Zweite Ebene</a:t>
            </a:r>
          </a:p>
        </p:txBody>
      </p:sp>
      <p:sp>
        <p:nvSpPr>
          <p:cNvPr id="16" name="Textplatzhalter 14"/>
          <p:cNvSpPr>
            <a:spLocks noGrp="1"/>
          </p:cNvSpPr>
          <p:nvPr>
            <p:ph type="body" sz="quarter" idx="15" hasCustomPrompt="1"/>
          </p:nvPr>
        </p:nvSpPr>
        <p:spPr>
          <a:xfrm>
            <a:off x="20736000" y="17918426"/>
            <a:ext cx="10008000" cy="3733822"/>
          </a:xfrm>
          <a:solidFill>
            <a:srgbClr val="EDEDED"/>
          </a:solidFill>
        </p:spPr>
        <p:txBody>
          <a:bodyPr lIns="756000" tIns="432000" rIns="1080000" bIns="180000">
            <a:noAutofit/>
          </a:bodyPr>
          <a:lstStyle>
            <a:lvl1pPr marL="0" indent="0">
              <a:lnSpc>
                <a:spcPts val="3671"/>
              </a:lnSpc>
              <a:buClr>
                <a:schemeClr val="bg1"/>
              </a:buClr>
              <a:buNone/>
              <a:defRPr sz="3000" baseline="0">
                <a:solidFill>
                  <a:srgbClr val="5D686E"/>
                </a:solidFill>
                <a:latin typeface="Arial" panose="020B0604020202020204" pitchFamily="34" charset="0"/>
                <a:cs typeface="Arial" panose="020B0604020202020204" pitchFamily="34" charset="0"/>
              </a:defRPr>
            </a:lvl1pPr>
            <a:lvl2pPr marL="369074" indent="-369074">
              <a:lnSpc>
                <a:spcPts val="3671"/>
              </a:lnSpc>
              <a:buClr>
                <a:srgbClr val="5D686E"/>
              </a:buClr>
              <a:buFont typeface="Arial" panose="020B0604020202020204" pitchFamily="34" charset="0"/>
              <a:buChar char="»"/>
              <a:defRPr sz="3000">
                <a:solidFill>
                  <a:srgbClr val="5D686E"/>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 </a:t>
            </a:r>
          </a:p>
          <a:p>
            <a:pPr lvl="1"/>
            <a:r>
              <a:rPr lang="de-DE" dirty="0"/>
              <a:t>Zweite Ebene</a:t>
            </a:r>
          </a:p>
        </p:txBody>
      </p:sp>
      <p:sp>
        <p:nvSpPr>
          <p:cNvPr id="25" name="Textplatzhalter 14"/>
          <p:cNvSpPr>
            <a:spLocks noGrp="1"/>
          </p:cNvSpPr>
          <p:nvPr>
            <p:ph type="body" sz="quarter" idx="20"/>
          </p:nvPr>
        </p:nvSpPr>
        <p:spPr>
          <a:xfrm>
            <a:off x="20733052" y="29264400"/>
            <a:ext cx="9720000" cy="4319999"/>
          </a:xfrm>
        </p:spPr>
        <p:txBody>
          <a:bodyPr lIns="756000" tIns="432000" rIns="1080000" bIns="180000">
            <a:noAutofit/>
          </a:bodyPr>
          <a:lstStyle>
            <a:lvl1pPr marL="367455" indent="-367455">
              <a:lnSpc>
                <a:spcPts val="3426"/>
              </a:lnSpc>
              <a:spcAft>
                <a:spcPts val="2651"/>
              </a:spcAft>
              <a:buClr>
                <a:schemeClr val="tx1"/>
              </a:buClr>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369074" indent="-369074">
              <a:lnSpc>
                <a:spcPts val="3426"/>
              </a:lnSpc>
              <a:spcAft>
                <a:spcPts val="2651"/>
              </a:spcAft>
              <a:buClr>
                <a:schemeClr val="tx1"/>
              </a:buClr>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a:p>
            <a:pPr lvl="1"/>
            <a:r>
              <a:rPr lang="de-DE" dirty="0"/>
              <a:t>Zweite Ebene</a:t>
            </a:r>
          </a:p>
        </p:txBody>
      </p:sp>
      <p:sp>
        <p:nvSpPr>
          <p:cNvPr id="44" name="Rechteck 43"/>
          <p:cNvSpPr/>
          <p:nvPr userDrawn="1"/>
        </p:nvSpPr>
        <p:spPr>
          <a:xfrm>
            <a:off x="25357219" y="24104792"/>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Rechteck 44"/>
          <p:cNvSpPr/>
          <p:nvPr userDrawn="1"/>
        </p:nvSpPr>
        <p:spPr>
          <a:xfrm>
            <a:off x="21333254" y="26193321"/>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Rechteck 45"/>
          <p:cNvSpPr/>
          <p:nvPr userDrawn="1"/>
        </p:nvSpPr>
        <p:spPr>
          <a:xfrm>
            <a:off x="25357219" y="26193321"/>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46"/>
          <p:cNvSpPr/>
          <p:nvPr userDrawn="1"/>
        </p:nvSpPr>
        <p:spPr>
          <a:xfrm>
            <a:off x="21333254" y="24104792"/>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Bildplatzhalter 17"/>
          <p:cNvSpPr>
            <a:spLocks noGrp="1" noChangeAspect="1"/>
          </p:cNvSpPr>
          <p:nvPr>
            <p:ph type="pic" sz="quarter" idx="16" hasCustomPrompt="1"/>
          </p:nvPr>
        </p:nvSpPr>
        <p:spPr>
          <a:xfrm>
            <a:off x="21598827" y="24248984"/>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49" name="Bildplatzhalter 17"/>
          <p:cNvSpPr>
            <a:spLocks noGrp="1" noChangeAspect="1"/>
          </p:cNvSpPr>
          <p:nvPr>
            <p:ph type="pic" sz="quarter" idx="17" hasCustomPrompt="1"/>
          </p:nvPr>
        </p:nvSpPr>
        <p:spPr>
          <a:xfrm>
            <a:off x="25631275" y="24248984"/>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50" name="Bildplatzhalter 17"/>
          <p:cNvSpPr>
            <a:spLocks noGrp="1" noChangeAspect="1"/>
          </p:cNvSpPr>
          <p:nvPr>
            <p:ph type="pic" sz="quarter" idx="18" hasCustomPrompt="1"/>
          </p:nvPr>
        </p:nvSpPr>
        <p:spPr>
          <a:xfrm>
            <a:off x="21598827" y="26313450"/>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51" name="Bildplatzhalter 17"/>
          <p:cNvSpPr>
            <a:spLocks noGrp="1" noChangeAspect="1"/>
          </p:cNvSpPr>
          <p:nvPr>
            <p:ph type="pic" sz="quarter" idx="19" hasCustomPrompt="1"/>
          </p:nvPr>
        </p:nvSpPr>
        <p:spPr>
          <a:xfrm>
            <a:off x="25631275" y="26313450"/>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52" name="Bildplatzhalter 8"/>
          <p:cNvSpPr>
            <a:spLocks noGrp="1"/>
          </p:cNvSpPr>
          <p:nvPr>
            <p:ph type="pic" sz="quarter" idx="21"/>
          </p:nvPr>
        </p:nvSpPr>
        <p:spPr>
          <a:xfrm>
            <a:off x="2178050" y="13195298"/>
            <a:ext cx="5436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a:t>Bild durch Klicken auf Symbol hinzufügen</a:t>
            </a:r>
          </a:p>
        </p:txBody>
      </p:sp>
      <p:sp>
        <p:nvSpPr>
          <p:cNvPr id="53" name="Bildplatzhalter 8"/>
          <p:cNvSpPr>
            <a:spLocks noGrp="1"/>
          </p:cNvSpPr>
          <p:nvPr>
            <p:ph type="pic" sz="quarter" idx="22"/>
          </p:nvPr>
        </p:nvSpPr>
        <p:spPr>
          <a:xfrm>
            <a:off x="13068050" y="13195299"/>
            <a:ext cx="4644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a:t>Bild durch Klicken auf Symbol hinzufügen</a:t>
            </a:r>
          </a:p>
        </p:txBody>
      </p:sp>
      <p:sp>
        <p:nvSpPr>
          <p:cNvPr id="54" name="Bildplatzhalter 8"/>
          <p:cNvSpPr>
            <a:spLocks noGrp="1"/>
          </p:cNvSpPr>
          <p:nvPr>
            <p:ph type="pic" sz="quarter" idx="24"/>
          </p:nvPr>
        </p:nvSpPr>
        <p:spPr>
          <a:xfrm>
            <a:off x="7623050" y="13195298"/>
            <a:ext cx="5436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a:t>Bild durch Klicken auf Symbol hinzufügen</a:t>
            </a:r>
          </a:p>
        </p:txBody>
      </p:sp>
      <p:sp>
        <p:nvSpPr>
          <p:cNvPr id="55" name="Textplatzhalter 13"/>
          <p:cNvSpPr>
            <a:spLocks noGrp="1"/>
          </p:cNvSpPr>
          <p:nvPr>
            <p:ph type="body" sz="quarter" idx="23" hasCustomPrompt="1"/>
          </p:nvPr>
        </p:nvSpPr>
        <p:spPr>
          <a:xfrm>
            <a:off x="2178050" y="16222843"/>
            <a:ext cx="15534000" cy="612000"/>
          </a:xfrm>
          <a:solidFill>
            <a:schemeClr val="accent2"/>
          </a:solidFill>
        </p:spPr>
        <p:txBody>
          <a:bodyPr tIns="0" rIns="180000" bIns="0" anchor="ctr" anchorCtr="0"/>
          <a:lstStyle>
            <a:lvl1pPr marL="0" indent="0">
              <a:lnSpc>
                <a:spcPts val="3600"/>
              </a:lnSpc>
              <a:buFontTx/>
              <a:buNone/>
              <a:defRPr sz="2500">
                <a:solidFill>
                  <a:schemeClr val="bg1"/>
                </a:solidFill>
                <a:latin typeface="Arial" panose="020B0604020202020204" pitchFamily="34" charset="0"/>
                <a:cs typeface="Arial" panose="020B0604020202020204" pitchFamily="34" charset="0"/>
              </a:defRPr>
            </a:lvl1pPr>
            <a:lvl2pPr>
              <a:lnSpc>
                <a:spcPts val="3600"/>
              </a:lnSpc>
              <a:defRPr sz="2500">
                <a:solidFill>
                  <a:schemeClr val="bg1"/>
                </a:solidFill>
              </a:defRPr>
            </a:lvl2pPr>
            <a:lvl3pPr>
              <a:lnSpc>
                <a:spcPts val="3600"/>
              </a:lnSpc>
              <a:defRPr sz="2500">
                <a:solidFill>
                  <a:schemeClr val="bg1"/>
                </a:solidFill>
              </a:defRPr>
            </a:lvl3pPr>
            <a:lvl4pPr>
              <a:lnSpc>
                <a:spcPts val="3600"/>
              </a:lnSpc>
              <a:defRPr sz="2500">
                <a:solidFill>
                  <a:schemeClr val="bg1"/>
                </a:solidFill>
              </a:defRPr>
            </a:lvl4pPr>
            <a:lvl5pPr>
              <a:lnSpc>
                <a:spcPts val="3600"/>
              </a:lnSpc>
              <a:defRPr sz="2500">
                <a:solidFill>
                  <a:schemeClr val="bg1"/>
                </a:solidFill>
              </a:defRPr>
            </a:lvl5pPr>
          </a:lstStyle>
          <a:p>
            <a:pPr lvl="0"/>
            <a:r>
              <a:rPr lang="de-DE" dirty="0"/>
              <a:t>Bildunterschrift</a:t>
            </a:r>
          </a:p>
        </p:txBody>
      </p:sp>
    </p:spTree>
    <p:extLst>
      <p:ext uri="{BB962C8B-B14F-4D97-AF65-F5344CB8AC3E}">
        <p14:creationId xmlns:p14="http://schemas.microsoft.com/office/powerpoint/2010/main" val="2176927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Nicht benutzen!">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145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tiff"/><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 y="37764000"/>
            <a:ext cx="30995998" cy="5760885"/>
          </a:xfrm>
          <a:prstGeom prst="rect">
            <a:avLst/>
          </a:prstGeom>
        </p:spPr>
      </p:pic>
      <p:sp>
        <p:nvSpPr>
          <p:cNvPr id="2" name="Titelplatzhalter 1"/>
          <p:cNvSpPr>
            <a:spLocks noGrp="1"/>
          </p:cNvSpPr>
          <p:nvPr>
            <p:ph type="title"/>
          </p:nvPr>
        </p:nvSpPr>
        <p:spPr>
          <a:xfrm>
            <a:off x="1828054" y="1629034"/>
            <a:ext cx="16695329" cy="3221695"/>
          </a:xfrm>
          <a:prstGeom prst="rect">
            <a:avLst/>
          </a:prstGeom>
        </p:spPr>
        <p:txBody>
          <a:bodyPr vert="horz" lIns="367085" tIns="183543" rIns="367085" bIns="183543" rtlCol="0" anchor="t">
            <a:noAutofit/>
          </a:bodyPr>
          <a:lstStyle/>
          <a:p>
            <a:r>
              <a:rPr lang="de-DE" dirty="0"/>
              <a:t>Titelmasterformat durch Klicken bearbeiten</a:t>
            </a:r>
          </a:p>
        </p:txBody>
      </p:sp>
      <p:sp>
        <p:nvSpPr>
          <p:cNvPr id="3" name="Textplatzhalter 2"/>
          <p:cNvSpPr>
            <a:spLocks noGrp="1"/>
          </p:cNvSpPr>
          <p:nvPr>
            <p:ph type="body" idx="1"/>
          </p:nvPr>
        </p:nvSpPr>
        <p:spPr>
          <a:xfrm>
            <a:off x="1828053" y="9365464"/>
            <a:ext cx="16695329" cy="1491070"/>
          </a:xfrm>
          <a:prstGeom prst="rect">
            <a:avLst/>
          </a:prstGeom>
        </p:spPr>
        <p:txBody>
          <a:bodyPr vert="horz" wrap="square" lIns="367085" tIns="183543" rIns="734170" bIns="183543" rtlCol="0">
            <a:spAutoFit/>
          </a:bodyPr>
          <a:lstStyle/>
          <a:p>
            <a:pPr lvl="0"/>
            <a:r>
              <a:rPr lang="de-DE" dirty="0"/>
              <a:t>Textmasterformat bearbeiten</a:t>
            </a:r>
          </a:p>
          <a:p>
            <a:pPr lvl="1"/>
            <a:r>
              <a:rPr lang="de-DE" dirty="0"/>
              <a:t>Zweite Ebene</a:t>
            </a:r>
          </a:p>
        </p:txBody>
      </p:sp>
      <p:sp>
        <p:nvSpPr>
          <p:cNvPr id="16" name="Datumsplatzhalter 3"/>
          <p:cNvSpPr txBox="1">
            <a:spLocks/>
          </p:cNvSpPr>
          <p:nvPr/>
        </p:nvSpPr>
        <p:spPr>
          <a:xfrm>
            <a:off x="1828053" y="41749670"/>
            <a:ext cx="11944105" cy="969283"/>
          </a:xfrm>
          <a:prstGeom prst="rect">
            <a:avLst/>
          </a:prstGeom>
        </p:spPr>
        <p:txBody>
          <a:bodyPr vert="horz" lIns="367085" tIns="183543" rIns="367085" bIns="0" rtlCol="0" anchor="b" anchorCtr="0"/>
          <a:lstStyle>
            <a:defPPr>
              <a:defRPr lang="de-DE"/>
            </a:defPPr>
            <a:lvl1pPr marL="0" algn="l" defTabSz="4176431" rtl="0" eaLnBrk="1" latinLnBrk="0" hangingPunct="1">
              <a:defRPr sz="55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marL="0" marR="0" indent="0" algn="l" defTabSz="4176431" rtl="0" eaLnBrk="1" fontAlgn="auto" latinLnBrk="0" hangingPunct="1">
              <a:lnSpc>
                <a:spcPct val="100000"/>
              </a:lnSpc>
              <a:spcBef>
                <a:spcPts val="0"/>
              </a:spcBef>
              <a:spcAft>
                <a:spcPts val="0"/>
              </a:spcAft>
              <a:buClrTx/>
              <a:buSzTx/>
              <a:buFontTx/>
              <a:buNone/>
              <a:tabLst/>
              <a:defRPr/>
            </a:pPr>
            <a:r>
              <a:rPr lang="de-DE" sz="2600" dirty="0">
                <a:solidFill>
                  <a:schemeClr val="bg1"/>
                </a:solidFill>
                <a:latin typeface="Arial" panose="020B0604020202020204" pitchFamily="34" charset="0"/>
                <a:cs typeface="Arial" panose="020B0604020202020204" pitchFamily="34" charset="0"/>
              </a:rPr>
              <a:t>Alle Informationen</a:t>
            </a:r>
            <a:r>
              <a:rPr lang="de-DE" sz="2600" baseline="0" dirty="0">
                <a:solidFill>
                  <a:schemeClr val="bg1"/>
                </a:solidFill>
                <a:latin typeface="Arial" panose="020B0604020202020204" pitchFamily="34" charset="0"/>
                <a:cs typeface="Arial" panose="020B0604020202020204" pitchFamily="34" charset="0"/>
              </a:rPr>
              <a:t> </a:t>
            </a:r>
            <a:r>
              <a:rPr lang="de-DE" sz="2600" dirty="0">
                <a:solidFill>
                  <a:schemeClr val="bg1"/>
                </a:solidFill>
                <a:latin typeface="Arial" panose="020B0604020202020204" pitchFamily="34" charset="0"/>
                <a:cs typeface="Arial" panose="020B0604020202020204" pitchFamily="34" charset="0"/>
              </a:rPr>
              <a:t>finden</a:t>
            </a:r>
            <a:r>
              <a:rPr lang="de-DE" sz="2600" baseline="0" dirty="0">
                <a:solidFill>
                  <a:schemeClr val="bg1"/>
                </a:solidFill>
                <a:latin typeface="Arial" panose="020B0604020202020204" pitchFamily="34" charset="0"/>
                <a:cs typeface="Arial" panose="020B0604020202020204" pitchFamily="34" charset="0"/>
              </a:rPr>
              <a:t> </a:t>
            </a:r>
            <a:r>
              <a:rPr lang="de-DE" sz="2600" dirty="0">
                <a:solidFill>
                  <a:schemeClr val="bg1"/>
                </a:solidFill>
                <a:latin typeface="Arial" panose="020B0604020202020204" pitchFamily="34" charset="0"/>
                <a:cs typeface="Arial" panose="020B0604020202020204" pitchFamily="34" charset="0"/>
              </a:rPr>
              <a:t>Sie unter:</a:t>
            </a:r>
            <a:r>
              <a:rPr lang="de-DE" sz="2600" baseline="0" dirty="0">
                <a:solidFill>
                  <a:schemeClr val="bg1"/>
                </a:solidFill>
                <a:latin typeface="Arial" panose="020B0604020202020204" pitchFamily="34" charset="0"/>
                <a:cs typeface="Arial" panose="020B0604020202020204" pitchFamily="34" charset="0"/>
              </a:rPr>
              <a:t> </a:t>
            </a:r>
            <a:r>
              <a:rPr lang="de-DE" sz="3600" b="1" dirty="0">
                <a:solidFill>
                  <a:schemeClr val="bg1"/>
                </a:solidFill>
                <a:latin typeface="Arial" panose="020B0604020202020204" pitchFamily="34" charset="0"/>
                <a:cs typeface="Arial" panose="020B0604020202020204" pitchFamily="34" charset="0"/>
              </a:rPr>
              <a:t>www. Heidenheim.dhbw.de</a:t>
            </a:r>
            <a:endParaRPr lang="de-DE" sz="3600" dirty="0">
              <a:solidFill>
                <a:schemeClr val="bg1"/>
              </a:solidFill>
              <a:latin typeface="Arial" panose="020B0604020202020204" pitchFamily="34" charset="0"/>
              <a:cs typeface="Arial" panose="020B0604020202020204" pitchFamily="34" charset="0"/>
            </a:endParaRPr>
          </a:p>
        </p:txBody>
      </p:sp>
      <p:sp>
        <p:nvSpPr>
          <p:cNvPr id="19" name="Fußzeilenplatzhalter 4"/>
          <p:cNvSpPr txBox="1">
            <a:spLocks/>
          </p:cNvSpPr>
          <p:nvPr/>
        </p:nvSpPr>
        <p:spPr>
          <a:xfrm>
            <a:off x="21477014" y="38758513"/>
            <a:ext cx="3816424" cy="936104"/>
          </a:xfrm>
          <a:prstGeom prst="rect">
            <a:avLst/>
          </a:prstGeom>
        </p:spPr>
        <p:txBody>
          <a:bodyPr vert="horz" lIns="360000" tIns="180000" rIns="324000" bIns="180000" rtlCol="0" anchor="t"/>
          <a:lstStyle>
            <a:defPPr>
              <a:defRPr lang="de-DE"/>
            </a:defPPr>
            <a:lvl1pPr marL="0" algn="ctr" defTabSz="4176431" rtl="0" eaLnBrk="1" latinLnBrk="0" hangingPunct="1">
              <a:defRPr sz="26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algn="l"/>
            <a:r>
              <a:rPr lang="de-DE" sz="4100" dirty="0">
                <a:solidFill>
                  <a:srgbClr val="FFFFFF"/>
                </a:solidFill>
                <a:latin typeface="Georgia" panose="02040502050405020303" pitchFamily="18" charset="0"/>
              </a:rPr>
              <a:t>Kontakt</a:t>
            </a:r>
          </a:p>
        </p:txBody>
      </p:sp>
      <p:sp>
        <p:nvSpPr>
          <p:cNvPr id="9" name="Textfeld 8"/>
          <p:cNvSpPr txBox="1"/>
          <p:nvPr userDrawn="1"/>
        </p:nvSpPr>
        <p:spPr>
          <a:xfrm>
            <a:off x="21837054" y="40250586"/>
            <a:ext cx="8798946" cy="400110"/>
          </a:xfrm>
          <a:prstGeom prst="rect">
            <a:avLst/>
          </a:prstGeom>
          <a:noFill/>
        </p:spPr>
        <p:txBody>
          <a:bodyPr wrap="square" lIns="0" tIns="0" rIns="0" bIns="0" rtlCol="0" anchor="ctr" anchorCtr="0">
            <a:spAutoFit/>
          </a:bodyPr>
          <a:lstStyle/>
          <a:p>
            <a:pPr algn="l"/>
            <a:r>
              <a:rPr lang="de-DE" sz="2600" b="1" dirty="0">
                <a:solidFill>
                  <a:srgbClr val="FFFFFF"/>
                </a:solidFill>
                <a:latin typeface="Arial" panose="020B0604020202020204" pitchFamily="34" charset="0"/>
                <a:cs typeface="Arial" panose="020B0604020202020204" pitchFamily="34" charset="0"/>
              </a:rPr>
              <a:t>Duale</a:t>
            </a:r>
            <a:r>
              <a:rPr lang="de-DE" sz="2600" b="1" baseline="0" dirty="0">
                <a:solidFill>
                  <a:srgbClr val="FFFFFF"/>
                </a:solidFill>
                <a:latin typeface="Arial" panose="020B0604020202020204" pitchFamily="34" charset="0"/>
                <a:cs typeface="Arial" panose="020B0604020202020204" pitchFamily="34" charset="0"/>
              </a:rPr>
              <a:t> </a:t>
            </a:r>
            <a:r>
              <a:rPr lang="de-DE" sz="2600" b="1" dirty="0">
                <a:solidFill>
                  <a:srgbClr val="FFFFFF"/>
                </a:solidFill>
                <a:latin typeface="Arial" panose="020B0604020202020204" pitchFamily="34" charset="0"/>
                <a:cs typeface="Arial" panose="020B0604020202020204" pitchFamily="34" charset="0"/>
              </a:rPr>
              <a:t>Hochschule</a:t>
            </a:r>
            <a:r>
              <a:rPr lang="de-DE" sz="2600" b="1" baseline="0" dirty="0">
                <a:solidFill>
                  <a:srgbClr val="FFFFFF"/>
                </a:solidFill>
                <a:latin typeface="Arial" panose="020B0604020202020204" pitchFamily="34" charset="0"/>
                <a:cs typeface="Arial" panose="020B0604020202020204" pitchFamily="34" charset="0"/>
              </a:rPr>
              <a:t> </a:t>
            </a:r>
            <a:r>
              <a:rPr lang="de-DE" sz="2600" b="1" dirty="0">
                <a:solidFill>
                  <a:srgbClr val="FFFFFF"/>
                </a:solidFill>
                <a:latin typeface="Arial" panose="020B0604020202020204" pitchFamily="34" charset="0"/>
                <a:cs typeface="Arial" panose="020B0604020202020204" pitchFamily="34" charset="0"/>
              </a:rPr>
              <a:t>Baden-Württemberg Heidenheim</a:t>
            </a:r>
            <a:endParaRPr lang="de-DE" sz="2600" b="1" dirty="0">
              <a:latin typeface="Arial" panose="020B0604020202020204" pitchFamily="34" charset="0"/>
              <a:cs typeface="Arial" panose="020B0604020202020204" pitchFamily="34" charset="0"/>
            </a:endParaRPr>
          </a:p>
        </p:txBody>
      </p:sp>
      <p:cxnSp>
        <p:nvCxnSpPr>
          <p:cNvPr id="11" name="Gerade Verbindung 10"/>
          <p:cNvCxnSpPr/>
          <p:nvPr userDrawn="1"/>
        </p:nvCxnSpPr>
        <p:spPr>
          <a:xfrm>
            <a:off x="0" y="360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a:off x="30744000" y="360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userDrawn="1"/>
        </p:nvCxnSpPr>
        <p:spPr>
          <a:xfrm>
            <a:off x="0" y="43164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userDrawn="1"/>
        </p:nvCxnSpPr>
        <p:spPr>
          <a:xfrm>
            <a:off x="30744000" y="43164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userDrawn="1"/>
        </p:nvCxnSpPr>
        <p:spPr>
          <a:xfrm>
            <a:off x="360000" y="4327200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21"/>
          <p:cNvCxnSpPr/>
          <p:nvPr userDrawn="1"/>
        </p:nvCxnSpPr>
        <p:spPr>
          <a:xfrm>
            <a:off x="30636000" y="4327200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a:off x="30636000" y="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userDrawn="1"/>
        </p:nvCxnSpPr>
        <p:spPr>
          <a:xfrm>
            <a:off x="360000" y="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pic>
        <p:nvPicPr>
          <p:cNvPr id="21" name="Grafik 2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1898962" y="1746402"/>
            <a:ext cx="7426924" cy="3593675"/>
          </a:xfrm>
          <a:prstGeom prst="rect">
            <a:avLst/>
          </a:prstGeom>
        </p:spPr>
      </p:pic>
    </p:spTree>
    <p:extLst>
      <p:ext uri="{BB962C8B-B14F-4D97-AF65-F5344CB8AC3E}">
        <p14:creationId xmlns:p14="http://schemas.microsoft.com/office/powerpoint/2010/main" val="2360628525"/>
      </p:ext>
    </p:extLst>
  </p:cSld>
  <p:clrMap bg1="lt1" tx1="dk1" bg2="lt2" tx2="dk2" accent1="accent1" accent2="accent2" accent3="accent3" accent4="accent4" accent5="accent5" accent6="accent6" hlink="hlink" folHlink="folHlink"/>
  <p:sldLayoutIdLst>
    <p:sldLayoutId id="2147483654" r:id="rId1"/>
    <p:sldLayoutId id="2147483653" r:id="rId2"/>
  </p:sldLayoutIdLst>
  <p:txStyles>
    <p:titleStyle>
      <a:lvl1pPr algn="l" defTabSz="4258627" rtl="0" eaLnBrk="1" latinLnBrk="0" hangingPunct="1">
        <a:lnSpc>
          <a:spcPts val="11217"/>
        </a:lnSpc>
        <a:spcBef>
          <a:spcPct val="0"/>
        </a:spcBef>
        <a:buNone/>
        <a:defRPr sz="9200" kern="1200">
          <a:solidFill>
            <a:schemeClr val="tx1"/>
          </a:solidFill>
          <a:latin typeface="Georgia" panose="02040502050405020303" pitchFamily="18" charset="0"/>
          <a:ea typeface="+mj-ea"/>
          <a:cs typeface="+mj-cs"/>
        </a:defRPr>
      </a:lvl1pPr>
    </p:titleStyle>
    <p:bodyStyle>
      <a:lvl1pPr marL="736529" indent="-736529" algn="l" defTabSz="4258627" rtl="0" eaLnBrk="1" latinLnBrk="0" hangingPunct="1">
        <a:lnSpc>
          <a:spcPts val="4384"/>
        </a:lnSpc>
        <a:spcBef>
          <a:spcPts val="0"/>
        </a:spcBef>
        <a:buClr>
          <a:schemeClr val="accent1"/>
        </a:buClr>
        <a:buFont typeface="Arial" panose="020B0604020202020204" pitchFamily="34" charset="0"/>
        <a:buChar char="»"/>
        <a:defRPr sz="3600" kern="1200">
          <a:solidFill>
            <a:schemeClr val="tx1"/>
          </a:solidFill>
          <a:latin typeface="Arial" panose="020B0604020202020204" pitchFamily="34" charset="0"/>
          <a:ea typeface="+mn-ea"/>
          <a:cs typeface="Arial" panose="020B0604020202020204" pitchFamily="34" charset="0"/>
        </a:defRPr>
      </a:lvl1pPr>
      <a:lvl2pPr marL="739766" indent="-739766" algn="l" defTabSz="4258627" rtl="0" eaLnBrk="1" latinLnBrk="0" hangingPunct="1">
        <a:lnSpc>
          <a:spcPts val="4384"/>
        </a:lnSpc>
        <a:spcBef>
          <a:spcPts val="0"/>
        </a:spcBef>
        <a:buClr>
          <a:schemeClr val="accent1"/>
        </a:buClr>
        <a:buFont typeface="Arial" panose="020B0604020202020204" pitchFamily="34" charset="0"/>
        <a:buChar char="»"/>
        <a:defRPr sz="3600" kern="1200">
          <a:solidFill>
            <a:schemeClr val="tx1"/>
          </a:solidFill>
          <a:latin typeface="Arial" panose="020B0604020202020204" pitchFamily="34" charset="0"/>
          <a:ea typeface="+mn-ea"/>
          <a:cs typeface="Arial" panose="020B0604020202020204" pitchFamily="34" charset="0"/>
        </a:defRPr>
      </a:lvl2pPr>
      <a:lvl3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3pPr>
      <a:lvl4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4pPr>
      <a:lvl5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5pPr>
      <a:lvl6pPr marL="11711222"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6pPr>
      <a:lvl7pPr marL="13840535"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7pPr>
      <a:lvl8pPr marL="15969849"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8pPr>
      <a:lvl9pPr marL="18099161"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9pPr>
    </p:bodyStyle>
    <p:otherStyle>
      <a:defPPr>
        <a:defRPr lang="de-DE"/>
      </a:defPPr>
      <a:lvl1pPr marL="0" algn="l" defTabSz="4258627" rtl="0" eaLnBrk="1" latinLnBrk="0" hangingPunct="1">
        <a:defRPr sz="8300" kern="1200">
          <a:solidFill>
            <a:schemeClr val="tx1"/>
          </a:solidFill>
          <a:latin typeface="+mn-lt"/>
          <a:ea typeface="+mn-ea"/>
          <a:cs typeface="+mn-cs"/>
        </a:defRPr>
      </a:lvl1pPr>
      <a:lvl2pPr marL="2129312" algn="l" defTabSz="4258627" rtl="0" eaLnBrk="1" latinLnBrk="0" hangingPunct="1">
        <a:defRPr sz="8300" kern="1200">
          <a:solidFill>
            <a:schemeClr val="tx1"/>
          </a:solidFill>
          <a:latin typeface="+mn-lt"/>
          <a:ea typeface="+mn-ea"/>
          <a:cs typeface="+mn-cs"/>
        </a:defRPr>
      </a:lvl2pPr>
      <a:lvl3pPr marL="4258627" algn="l" defTabSz="4258627" rtl="0" eaLnBrk="1" latinLnBrk="0" hangingPunct="1">
        <a:defRPr sz="8300" kern="1200">
          <a:solidFill>
            <a:schemeClr val="tx1"/>
          </a:solidFill>
          <a:latin typeface="+mn-lt"/>
          <a:ea typeface="+mn-ea"/>
          <a:cs typeface="+mn-cs"/>
        </a:defRPr>
      </a:lvl3pPr>
      <a:lvl4pPr marL="6387939" algn="l" defTabSz="4258627" rtl="0" eaLnBrk="1" latinLnBrk="0" hangingPunct="1">
        <a:defRPr sz="8300" kern="1200">
          <a:solidFill>
            <a:schemeClr val="tx1"/>
          </a:solidFill>
          <a:latin typeface="+mn-lt"/>
          <a:ea typeface="+mn-ea"/>
          <a:cs typeface="+mn-cs"/>
        </a:defRPr>
      </a:lvl4pPr>
      <a:lvl5pPr marL="8517252" algn="l" defTabSz="4258627" rtl="0" eaLnBrk="1" latinLnBrk="0" hangingPunct="1">
        <a:defRPr sz="8300" kern="1200">
          <a:solidFill>
            <a:schemeClr val="tx1"/>
          </a:solidFill>
          <a:latin typeface="+mn-lt"/>
          <a:ea typeface="+mn-ea"/>
          <a:cs typeface="+mn-cs"/>
        </a:defRPr>
      </a:lvl5pPr>
      <a:lvl6pPr marL="10646565" algn="l" defTabSz="4258627" rtl="0" eaLnBrk="1" latinLnBrk="0" hangingPunct="1">
        <a:defRPr sz="8300" kern="1200">
          <a:solidFill>
            <a:schemeClr val="tx1"/>
          </a:solidFill>
          <a:latin typeface="+mn-lt"/>
          <a:ea typeface="+mn-ea"/>
          <a:cs typeface="+mn-cs"/>
        </a:defRPr>
      </a:lvl6pPr>
      <a:lvl7pPr marL="12775879" algn="l" defTabSz="4258627" rtl="0" eaLnBrk="1" latinLnBrk="0" hangingPunct="1">
        <a:defRPr sz="8300" kern="1200">
          <a:solidFill>
            <a:schemeClr val="tx1"/>
          </a:solidFill>
          <a:latin typeface="+mn-lt"/>
          <a:ea typeface="+mn-ea"/>
          <a:cs typeface="+mn-cs"/>
        </a:defRPr>
      </a:lvl7pPr>
      <a:lvl8pPr marL="14905191" algn="l" defTabSz="4258627" rtl="0" eaLnBrk="1" latinLnBrk="0" hangingPunct="1">
        <a:defRPr sz="8300" kern="1200">
          <a:solidFill>
            <a:schemeClr val="tx1"/>
          </a:solidFill>
          <a:latin typeface="+mn-lt"/>
          <a:ea typeface="+mn-ea"/>
          <a:cs typeface="+mn-cs"/>
        </a:defRPr>
      </a:lvl8pPr>
      <a:lvl9pPr marL="17034505" algn="l" defTabSz="4258627" rtl="0" eaLnBrk="1" latinLnBrk="0" hangingPunct="1">
        <a:defRPr sz="8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pPr>
              <a:lnSpc>
                <a:spcPct val="100000"/>
              </a:lnSpc>
            </a:pPr>
            <a:r>
              <a:rPr lang="pt-BR" sz="8000" dirty="0" err="1"/>
              <a:t>Exploring</a:t>
            </a:r>
            <a:r>
              <a:rPr lang="pt-BR" sz="8000" dirty="0"/>
              <a:t> Machine Learning </a:t>
            </a:r>
            <a:r>
              <a:rPr lang="pt-BR" sz="8000" dirty="0" err="1"/>
              <a:t>Optimizatios</a:t>
            </a:r>
            <a:r>
              <a:rPr lang="pt-BR" sz="8000" dirty="0"/>
              <a:t> for </a:t>
            </a:r>
            <a:r>
              <a:rPr lang="pt-BR" sz="8000" dirty="0" err="1"/>
              <a:t>Pair</a:t>
            </a:r>
            <a:r>
              <a:rPr lang="pt-BR" sz="8000" dirty="0"/>
              <a:t> </a:t>
            </a:r>
            <a:r>
              <a:rPr lang="pt-BR" sz="8000" dirty="0" err="1"/>
              <a:t>Selection</a:t>
            </a:r>
            <a:r>
              <a:rPr lang="pt-BR" sz="8000" dirty="0"/>
              <a:t> in </a:t>
            </a:r>
            <a:r>
              <a:rPr lang="pt-BR" sz="8000" dirty="0" err="1"/>
              <a:t>Pairs</a:t>
            </a:r>
            <a:r>
              <a:rPr lang="pt-BR" sz="8000" dirty="0"/>
              <a:t> Trading</a:t>
            </a:r>
            <a:endParaRPr lang="de-DE" sz="8000" dirty="0"/>
          </a:p>
        </p:txBody>
      </p:sp>
      <p:sp>
        <p:nvSpPr>
          <p:cNvPr id="6" name="Textplatzhalter 5"/>
          <p:cNvSpPr>
            <a:spLocks noGrp="1"/>
          </p:cNvSpPr>
          <p:nvPr>
            <p:ph type="body" sz="quarter" idx="13"/>
          </p:nvPr>
        </p:nvSpPr>
        <p:spPr>
          <a:xfrm>
            <a:off x="1890838" y="5729372"/>
            <a:ext cx="16695329" cy="942751"/>
          </a:xfrm>
        </p:spPr>
        <p:txBody>
          <a:bodyPr/>
          <a:lstStyle/>
          <a:p>
            <a:r>
              <a:rPr lang="de-DE" dirty="0"/>
              <a:t>Müller, Maximilian TIN22</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sp>
        <p:nvSpPr>
          <p:cNvPr id="26" name="Textplatzhalter 25"/>
          <p:cNvSpPr>
            <a:spLocks noGrp="1"/>
          </p:cNvSpPr>
          <p:nvPr>
            <p:ph type="body" sz="quarter" idx="23"/>
          </p:nvPr>
        </p:nvSpPr>
        <p:spPr>
          <a:xfrm>
            <a:off x="2024109" y="14284038"/>
            <a:ext cx="17872657" cy="1748638"/>
          </a:xfrm>
        </p:spPr>
        <p:txBody>
          <a:bodyPr/>
          <a:lstStyle/>
          <a:p>
            <a:r>
              <a:rPr lang="de-DE" dirty="0" err="1"/>
              <a:t>Three</a:t>
            </a:r>
            <a:r>
              <a:rPr lang="de-DE" dirty="0"/>
              <a:t> pair </a:t>
            </a:r>
            <a:r>
              <a:rPr lang="de-DE" dirty="0" err="1"/>
              <a:t>identification</a:t>
            </a:r>
            <a:r>
              <a:rPr lang="de-DE" dirty="0"/>
              <a:t> </a:t>
            </a:r>
            <a:r>
              <a:rPr lang="de-DE" dirty="0" err="1"/>
              <a:t>methods</a:t>
            </a:r>
            <a:r>
              <a:rPr lang="de-DE" dirty="0"/>
              <a:t> (traditional </a:t>
            </a:r>
            <a:r>
              <a:rPr lang="de-DE" dirty="0" err="1"/>
              <a:t>cointegration</a:t>
            </a:r>
            <a:r>
              <a:rPr lang="de-DE" dirty="0"/>
              <a:t>, Affinity Propagation Clustering, and Gradient Boost Regressor) </a:t>
            </a:r>
            <a:r>
              <a:rPr lang="de-DE" dirty="0" err="1"/>
              <a:t>are</a:t>
            </a:r>
            <a:r>
              <a:rPr lang="de-DE" dirty="0"/>
              <a:t> </a:t>
            </a:r>
            <a:r>
              <a:rPr lang="de-DE" dirty="0" err="1"/>
              <a:t>compared</a:t>
            </a:r>
            <a:r>
              <a:rPr lang="de-DE" dirty="0"/>
              <a:t> </a:t>
            </a:r>
            <a:r>
              <a:rPr lang="de-DE" dirty="0" err="1"/>
              <a:t>using</a:t>
            </a:r>
            <a:r>
              <a:rPr lang="de-DE" dirty="0"/>
              <a:t> </a:t>
            </a:r>
            <a:r>
              <a:rPr lang="de-DE" dirty="0" err="1"/>
              <a:t>Engle</a:t>
            </a:r>
            <a:r>
              <a:rPr lang="de-DE" dirty="0"/>
              <a:t>-Granger </a:t>
            </a:r>
            <a:r>
              <a:rPr lang="de-DE" dirty="0" err="1"/>
              <a:t>validation</a:t>
            </a:r>
            <a:r>
              <a:rPr lang="de-DE" dirty="0"/>
              <a:t> and top 20 pair </a:t>
            </a:r>
            <a:r>
              <a:rPr lang="de-DE" dirty="0" err="1"/>
              <a:t>selection</a:t>
            </a:r>
            <a:r>
              <a:rPr lang="de-DE" dirty="0"/>
              <a:t>. A 12-month </a:t>
            </a:r>
            <a:r>
              <a:rPr lang="de-DE" dirty="0" err="1"/>
              <a:t>sliding</a:t>
            </a:r>
            <a:r>
              <a:rPr lang="de-DE" dirty="0"/>
              <a:t> </a:t>
            </a:r>
            <a:r>
              <a:rPr lang="de-DE" dirty="0" err="1"/>
              <a:t>window</a:t>
            </a:r>
            <a:r>
              <a:rPr lang="de-DE" dirty="0"/>
              <a:t> </a:t>
            </a:r>
            <a:r>
              <a:rPr lang="de-DE" dirty="0" err="1"/>
              <a:t>approach</a:t>
            </a:r>
            <a:r>
              <a:rPr lang="de-DE" dirty="0"/>
              <a:t> </a:t>
            </a:r>
            <a:r>
              <a:rPr lang="de-DE" dirty="0" err="1"/>
              <a:t>tests</a:t>
            </a:r>
            <a:r>
              <a:rPr lang="de-DE" dirty="0"/>
              <a:t> all </a:t>
            </a:r>
            <a:r>
              <a:rPr lang="de-DE" dirty="0" err="1"/>
              <a:t>methods</a:t>
            </a:r>
            <a:r>
              <a:rPr lang="de-DE" dirty="0"/>
              <a:t> </a:t>
            </a:r>
            <a:r>
              <a:rPr lang="de-DE" dirty="0" err="1"/>
              <a:t>with</a:t>
            </a:r>
            <a:r>
              <a:rPr lang="de-DE" dirty="0"/>
              <a:t> Z-Score and Bollinger Bands </a:t>
            </a:r>
            <a:r>
              <a:rPr lang="de-DE" dirty="0" err="1"/>
              <a:t>strategies</a:t>
            </a:r>
            <a:r>
              <a:rPr lang="de-DE" dirty="0"/>
              <a:t> on NASDAQ-100 and FTSE-100 </a:t>
            </a:r>
            <a:r>
              <a:rPr lang="de-DE" dirty="0" err="1"/>
              <a:t>markets</a:t>
            </a:r>
            <a:r>
              <a:rPr lang="de-DE" dirty="0"/>
              <a:t>.</a:t>
            </a:r>
          </a:p>
        </p:txBody>
      </p:sp>
      <p:grpSp>
        <p:nvGrpSpPr>
          <p:cNvPr id="57" name="Gruppieren 56"/>
          <p:cNvGrpSpPr/>
          <p:nvPr/>
        </p:nvGrpSpPr>
        <p:grpSpPr>
          <a:xfrm>
            <a:off x="20268000" y="22196673"/>
            <a:ext cx="10476000" cy="1283380"/>
            <a:chOff x="20268000" y="22196673"/>
            <a:chExt cx="10476000" cy="1283380"/>
          </a:xfrm>
        </p:grpSpPr>
        <p:pic>
          <p:nvPicPr>
            <p:cNvPr id="58" name="Picture 2"/>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9" name="Textfeld 58"/>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Kooperative Partner</a:t>
              </a:r>
            </a:p>
          </p:txBody>
        </p:sp>
      </p:grpSp>
      <p:sp>
        <p:nvSpPr>
          <p:cNvPr id="60" name="Textfeld 59"/>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a:solidFill>
                  <a:srgbClr val="FFFFFF"/>
                </a:solidFill>
                <a:latin typeface="Arial" panose="020B0604020202020204" pitchFamily="34" charset="0"/>
                <a:cs typeface="Arial" panose="020B0604020202020204" pitchFamily="34" charset="0"/>
              </a:rPr>
              <a:t>Musterstraße 1, 89518 Heidenheim</a:t>
            </a:r>
          </a:p>
          <a:p>
            <a:pPr algn="l">
              <a:lnSpc>
                <a:spcPts val="3300"/>
              </a:lnSpc>
            </a:pPr>
            <a:r>
              <a:rPr lang="de-DE" sz="2600" b="0" dirty="0">
                <a:solidFill>
                  <a:srgbClr val="FFFFFF"/>
                </a:solidFill>
                <a:latin typeface="Arial" panose="020B0604020202020204" pitchFamily="34" charset="0"/>
                <a:cs typeface="Arial" panose="020B0604020202020204" pitchFamily="34" charset="0"/>
              </a:rPr>
              <a:t>+49 7321</a:t>
            </a:r>
            <a:r>
              <a:rPr lang="de-DE" sz="2600" b="0" baseline="0" dirty="0">
                <a:solidFill>
                  <a:srgbClr val="FFFFFF"/>
                </a:solidFill>
                <a:latin typeface="Arial" panose="020B0604020202020204" pitchFamily="34" charset="0"/>
                <a:cs typeface="Arial" panose="020B0604020202020204" pitchFamily="34" charset="0"/>
              </a:rPr>
              <a:t> 2722-xx, email@dhbw-heidenheim.de</a:t>
            </a:r>
          </a:p>
          <a:p>
            <a:pPr algn="l">
              <a:lnSpc>
                <a:spcPts val="3300"/>
              </a:lnSpc>
            </a:pPr>
            <a:r>
              <a:rPr lang="de-DE" sz="2600" b="0" baseline="0" dirty="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pic>
        <p:nvPicPr>
          <p:cNvPr id="35" name="Content Placeholder 34" descr="A diagram of a window&#10;&#10;AI-generated content may be incorrect.">
            <a:extLst>
              <a:ext uri="{FF2B5EF4-FFF2-40B4-BE49-F238E27FC236}">
                <a16:creationId xmlns:a16="http://schemas.microsoft.com/office/drawing/2014/main" id="{E91EA754-7D63-9321-B102-531432D87FA6}"/>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2024109" y="6982136"/>
            <a:ext cx="17872658" cy="6819182"/>
          </a:xfrm>
        </p:spPr>
      </p:pic>
      <p:sp>
        <p:nvSpPr>
          <p:cNvPr id="46" name="Rectangle 45">
            <a:extLst>
              <a:ext uri="{FF2B5EF4-FFF2-40B4-BE49-F238E27FC236}">
                <a16:creationId xmlns:a16="http://schemas.microsoft.com/office/drawing/2014/main" id="{FBF24094-46D9-6389-C254-5509610BC9EB}"/>
              </a:ext>
            </a:extLst>
          </p:cNvPr>
          <p:cNvSpPr/>
          <p:nvPr/>
        </p:nvSpPr>
        <p:spPr>
          <a:xfrm>
            <a:off x="18815808" y="22082539"/>
            <a:ext cx="11928192" cy="156484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descr="A diagram of trade and spread&#10;&#10;AI-generated content may be incorrect.">
            <a:extLst>
              <a:ext uri="{FF2B5EF4-FFF2-40B4-BE49-F238E27FC236}">
                <a16:creationId xmlns:a16="http://schemas.microsoft.com/office/drawing/2014/main" id="{FF072A11-34AF-CB34-8323-F10175837F25}"/>
              </a:ext>
            </a:extLst>
          </p:cNvPr>
          <p:cNvPicPr>
            <a:picLocks noChangeAspect="1"/>
          </p:cNvPicPr>
          <p:nvPr/>
        </p:nvPicPr>
        <p:blipFill>
          <a:blip r:embed="rId8">
            <a:extLst>
              <a:ext uri="{28A0092B-C50C-407E-A947-70E740481C1C}">
                <a14:useLocalDpi xmlns:a14="http://schemas.microsoft.com/office/drawing/2010/main" val="0"/>
              </a:ext>
            </a:extLst>
          </a:blip>
          <a:srcRect l="919" r="47935"/>
          <a:stretch>
            <a:fillRect/>
          </a:stretch>
        </p:blipFill>
        <p:spPr>
          <a:xfrm>
            <a:off x="20590998" y="12795660"/>
            <a:ext cx="9229758" cy="6821915"/>
          </a:xfrm>
          <a:prstGeom prst="rect">
            <a:avLst/>
          </a:prstGeom>
        </p:spPr>
      </p:pic>
      <p:pic>
        <p:nvPicPr>
          <p:cNvPr id="73" name="Picture 72" descr="A diagram of trade and spread&#10;&#10;AI-generated content may be incorrect.">
            <a:extLst>
              <a:ext uri="{FF2B5EF4-FFF2-40B4-BE49-F238E27FC236}">
                <a16:creationId xmlns:a16="http://schemas.microsoft.com/office/drawing/2014/main" id="{69913938-C3C2-AE11-C647-0226CB1ECE36}"/>
              </a:ext>
            </a:extLst>
          </p:cNvPr>
          <p:cNvPicPr>
            <a:picLocks noChangeAspect="1"/>
          </p:cNvPicPr>
          <p:nvPr/>
        </p:nvPicPr>
        <p:blipFill>
          <a:blip r:embed="rId8">
            <a:extLst>
              <a:ext uri="{28A0092B-C50C-407E-A947-70E740481C1C}">
                <a14:useLocalDpi xmlns:a14="http://schemas.microsoft.com/office/drawing/2010/main" val="0"/>
              </a:ext>
            </a:extLst>
          </a:blip>
          <a:srcRect l="51660" t="11335"/>
          <a:stretch>
            <a:fillRect/>
          </a:stretch>
        </p:blipFill>
        <p:spPr>
          <a:xfrm>
            <a:off x="20715702" y="20530392"/>
            <a:ext cx="8723423" cy="6048651"/>
          </a:xfrm>
          <a:prstGeom prst="rect">
            <a:avLst/>
          </a:prstGeom>
        </p:spPr>
      </p:pic>
      <p:sp>
        <p:nvSpPr>
          <p:cNvPr id="74" name="Titel 3">
            <a:extLst>
              <a:ext uri="{FF2B5EF4-FFF2-40B4-BE49-F238E27FC236}">
                <a16:creationId xmlns:a16="http://schemas.microsoft.com/office/drawing/2014/main" id="{E0C4ED24-A886-5045-B0F2-EC6C9166F523}"/>
              </a:ext>
            </a:extLst>
          </p:cNvPr>
          <p:cNvSpPr txBox="1">
            <a:spLocks/>
          </p:cNvSpPr>
          <p:nvPr/>
        </p:nvSpPr>
        <p:spPr>
          <a:xfrm>
            <a:off x="1801002" y="6956375"/>
            <a:ext cx="16695329" cy="1342754"/>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pt-BR" sz="6000" dirty="0"/>
              <a:t>Approach</a:t>
            </a:r>
            <a:endParaRPr lang="de-DE" sz="8000" dirty="0"/>
          </a:p>
        </p:txBody>
      </p:sp>
      <p:sp>
        <p:nvSpPr>
          <p:cNvPr id="77" name="Titel 3">
            <a:extLst>
              <a:ext uri="{FF2B5EF4-FFF2-40B4-BE49-F238E27FC236}">
                <a16:creationId xmlns:a16="http://schemas.microsoft.com/office/drawing/2014/main" id="{0CE136BF-CE5C-1E82-ADBC-818EDF8382B5}"/>
              </a:ext>
            </a:extLst>
          </p:cNvPr>
          <p:cNvSpPr txBox="1">
            <a:spLocks/>
          </p:cNvSpPr>
          <p:nvPr/>
        </p:nvSpPr>
        <p:spPr>
          <a:xfrm>
            <a:off x="2014139" y="16394678"/>
            <a:ext cx="8661675" cy="2201827"/>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pt-BR" sz="6000" dirty="0"/>
              <a:t>Affinity </a:t>
            </a:r>
            <a:r>
              <a:rPr lang="pt-BR" sz="6000" dirty="0" err="1"/>
              <a:t>Propagation</a:t>
            </a:r>
            <a:r>
              <a:rPr lang="pt-BR" sz="6000" dirty="0"/>
              <a:t> </a:t>
            </a:r>
            <a:r>
              <a:rPr lang="pt-BR" sz="6000" dirty="0" err="1"/>
              <a:t>Clustering</a:t>
            </a:r>
            <a:r>
              <a:rPr lang="pt-BR" sz="6000" dirty="0"/>
              <a:t>:</a:t>
            </a:r>
            <a:endParaRPr lang="de-DE" sz="8000" dirty="0"/>
          </a:p>
        </p:txBody>
      </p:sp>
      <p:sp>
        <p:nvSpPr>
          <p:cNvPr id="79" name="Rectangle 78">
            <a:extLst>
              <a:ext uri="{FF2B5EF4-FFF2-40B4-BE49-F238E27FC236}">
                <a16:creationId xmlns:a16="http://schemas.microsoft.com/office/drawing/2014/main" id="{409C4FD4-7DC5-7D0F-B23E-E7E8ED9318D6}"/>
              </a:ext>
            </a:extLst>
          </p:cNvPr>
          <p:cNvSpPr>
            <a:spLocks noGrp="1" noRot="1" noMove="1" noResize="1" noEditPoints="1" noAdjustHandles="1" noChangeArrowheads="1" noChangeShapeType="1"/>
          </p:cNvSpPr>
          <p:nvPr/>
        </p:nvSpPr>
        <p:spPr>
          <a:xfrm>
            <a:off x="256700" y="35789992"/>
            <a:ext cx="30487300" cy="7644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itel 3">
            <a:extLst>
              <a:ext uri="{FF2B5EF4-FFF2-40B4-BE49-F238E27FC236}">
                <a16:creationId xmlns:a16="http://schemas.microsoft.com/office/drawing/2014/main" id="{39110250-1803-94B8-0D8D-D05B334EB453}"/>
              </a:ext>
            </a:extLst>
          </p:cNvPr>
          <p:cNvSpPr txBox="1">
            <a:spLocks/>
          </p:cNvSpPr>
          <p:nvPr/>
        </p:nvSpPr>
        <p:spPr>
          <a:xfrm>
            <a:off x="11244277" y="16356355"/>
            <a:ext cx="8661675" cy="2201827"/>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en-US" sz="6000" dirty="0"/>
              <a:t>Gradient Boost Regressor:</a:t>
            </a:r>
            <a:endParaRPr lang="de-DE" sz="8000" dirty="0"/>
          </a:p>
        </p:txBody>
      </p:sp>
      <p:sp>
        <p:nvSpPr>
          <p:cNvPr id="81" name="Titel 3">
            <a:extLst>
              <a:ext uri="{FF2B5EF4-FFF2-40B4-BE49-F238E27FC236}">
                <a16:creationId xmlns:a16="http://schemas.microsoft.com/office/drawing/2014/main" id="{AD19E3D2-1274-81E3-DC31-01D22619BC73}"/>
              </a:ext>
            </a:extLst>
          </p:cNvPr>
          <p:cNvSpPr txBox="1">
            <a:spLocks/>
          </p:cNvSpPr>
          <p:nvPr/>
        </p:nvSpPr>
        <p:spPr>
          <a:xfrm>
            <a:off x="1890838" y="18596505"/>
            <a:ext cx="8661675" cy="8095549"/>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en-US" sz="3600" dirty="0">
                <a:latin typeface="Arial" panose="020B0604020202020204" pitchFamily="34" charset="0"/>
                <a:cs typeface="Arial" panose="020B0604020202020204" pitchFamily="34" charset="0"/>
              </a:rPr>
              <a:t>The method automatically determines optimal cluster numbers by grouping stocks with similar </a:t>
            </a:r>
            <a:r>
              <a:rPr lang="en-US" sz="3600" b="1" dirty="0">
                <a:latin typeface="Arial" panose="020B0604020202020204" pitchFamily="34" charset="0"/>
                <a:cs typeface="Arial" panose="020B0604020202020204" pitchFamily="34" charset="0"/>
              </a:rPr>
              <a:t>return</a:t>
            </a:r>
            <a:r>
              <a:rPr lang="en-US" sz="3600" dirty="0">
                <a:latin typeface="Arial" panose="020B0604020202020204" pitchFamily="34" charset="0"/>
                <a:cs typeface="Arial" panose="020B0604020202020204" pitchFamily="34" charset="0"/>
              </a:rPr>
              <a:t> and </a:t>
            </a:r>
            <a:r>
              <a:rPr lang="en-US" sz="3600" b="1" dirty="0">
                <a:latin typeface="Arial" panose="020B0604020202020204" pitchFamily="34" charset="0"/>
                <a:cs typeface="Arial" panose="020B0604020202020204" pitchFamily="34" charset="0"/>
              </a:rPr>
              <a:t>volatility</a:t>
            </a:r>
            <a:r>
              <a:rPr lang="en-US" sz="3600" dirty="0">
                <a:latin typeface="Arial" panose="020B0604020202020204" pitchFamily="34" charset="0"/>
                <a:cs typeface="Arial" panose="020B0604020202020204" pitchFamily="34" charset="0"/>
              </a:rPr>
              <a:t> profiles. The economic assumption is that stocks with comparable risk-return characteristics respond similarly to market conditions, creating more stable statistical relationships. Clustering reduces the search space from thousands to a few hundred pair combinations within clusters, with final pair selection based on </a:t>
            </a:r>
            <a:r>
              <a:rPr lang="en-US" sz="3600" b="1" dirty="0">
                <a:latin typeface="Arial" panose="020B0604020202020204" pitchFamily="34" charset="0"/>
                <a:cs typeface="Arial" panose="020B0604020202020204" pitchFamily="34" charset="0"/>
              </a:rPr>
              <a:t>proximity to cluster centers </a:t>
            </a:r>
            <a:r>
              <a:rPr lang="en-US" sz="3600" dirty="0">
                <a:latin typeface="Arial" panose="020B0604020202020204" pitchFamily="34" charset="0"/>
                <a:cs typeface="Arial" panose="020B0604020202020204" pitchFamily="34" charset="0"/>
              </a:rPr>
              <a:t>and </a:t>
            </a:r>
            <a:r>
              <a:rPr lang="en-US" sz="3600" b="1" dirty="0">
                <a:latin typeface="Arial" panose="020B0604020202020204" pitchFamily="34" charset="0"/>
                <a:cs typeface="Arial" panose="020B0604020202020204" pitchFamily="34" charset="0"/>
              </a:rPr>
              <a:t>profile similarity</a:t>
            </a:r>
            <a:r>
              <a:rPr lang="en-US" sz="3600" dirty="0">
                <a:latin typeface="Arial" panose="020B0604020202020204" pitchFamily="34" charset="0"/>
                <a:cs typeface="Arial" panose="020B0604020202020204" pitchFamily="34" charset="0"/>
              </a:rPr>
              <a:t>.</a:t>
            </a:r>
            <a:endParaRPr lang="de-DE" sz="3500" dirty="0">
              <a:latin typeface="Arial" panose="020B0604020202020204" pitchFamily="34" charset="0"/>
              <a:cs typeface="Arial" panose="020B0604020202020204" pitchFamily="34" charset="0"/>
            </a:endParaRPr>
          </a:p>
        </p:txBody>
      </p:sp>
      <p:sp>
        <p:nvSpPr>
          <p:cNvPr id="83" name="Titel 3">
            <a:extLst>
              <a:ext uri="{FF2B5EF4-FFF2-40B4-BE49-F238E27FC236}">
                <a16:creationId xmlns:a16="http://schemas.microsoft.com/office/drawing/2014/main" id="{177F8FD5-270C-64DC-F192-FE7D56B67AC9}"/>
              </a:ext>
            </a:extLst>
          </p:cNvPr>
          <p:cNvSpPr txBox="1">
            <a:spLocks/>
          </p:cNvSpPr>
          <p:nvPr/>
        </p:nvSpPr>
        <p:spPr>
          <a:xfrm>
            <a:off x="11246745" y="18596504"/>
            <a:ext cx="8661675" cy="9457645"/>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en-US" sz="3600" dirty="0">
                <a:latin typeface="Arial" panose="020B0604020202020204" pitchFamily="34" charset="0"/>
                <a:cs typeface="Arial" panose="020B0604020202020204" pitchFamily="34" charset="0"/>
              </a:rPr>
              <a:t>The model combines multiple weak decision trees to predict average </a:t>
            </a:r>
            <a:r>
              <a:rPr lang="en-US" sz="3600" b="1" dirty="0">
                <a:latin typeface="Arial" panose="020B0604020202020204" pitchFamily="34" charset="0"/>
                <a:cs typeface="Arial" panose="020B0604020202020204" pitchFamily="34" charset="0"/>
              </a:rPr>
              <a:t>spread deviations between stock pairs</a:t>
            </a:r>
            <a:r>
              <a:rPr lang="en-US" sz="3600" dirty="0">
                <a:latin typeface="Arial" panose="020B0604020202020204" pitchFamily="34" charset="0"/>
                <a:cs typeface="Arial" panose="020B0604020202020204" pitchFamily="34" charset="0"/>
              </a:rPr>
              <a:t>, essentially forecasting which pairs will have minimal future spread volatility. Instead of trading all cointegrated pairs and waiting for convergence, the model selects only pairs with predicted spread stability. It uses a comprehensive feature set including </a:t>
            </a:r>
            <a:r>
              <a:rPr lang="en-US" sz="3600" b="1" dirty="0">
                <a:latin typeface="Arial" panose="020B0604020202020204" pitchFamily="34" charset="0"/>
                <a:cs typeface="Arial" panose="020B0604020202020204" pitchFamily="34" charset="0"/>
              </a:rPr>
              <a:t>correlation measures</a:t>
            </a:r>
            <a:r>
              <a:rPr lang="en-US" sz="3600" dirty="0">
                <a:latin typeface="Arial" panose="020B0604020202020204" pitchFamily="34" charset="0"/>
                <a:cs typeface="Arial" panose="020B0604020202020204" pitchFamily="34" charset="0"/>
              </a:rPr>
              <a:t>, </a:t>
            </a:r>
            <a:r>
              <a:rPr lang="en-US" sz="3600" b="1" dirty="0">
                <a:latin typeface="Arial" panose="020B0604020202020204" pitchFamily="34" charset="0"/>
                <a:cs typeface="Arial" panose="020B0604020202020204" pitchFamily="34" charset="0"/>
              </a:rPr>
              <a:t>technical indicators </a:t>
            </a:r>
            <a:r>
              <a:rPr lang="en-US" sz="3600" dirty="0">
                <a:latin typeface="Arial" panose="020B0604020202020204" pitchFamily="34" charset="0"/>
                <a:cs typeface="Arial" panose="020B0604020202020204" pitchFamily="34" charset="0"/>
              </a:rPr>
              <a:t>like Williams Oscillators and Bollinger Bands, volume characteristics, and momentum indicators to make these predictions.</a:t>
            </a:r>
            <a:endParaRPr lang="de-DE" sz="3500" dirty="0">
              <a:latin typeface="Arial" panose="020B0604020202020204" pitchFamily="34" charset="0"/>
              <a:cs typeface="Arial" panose="020B0604020202020204" pitchFamily="34" charset="0"/>
            </a:endParaRPr>
          </a:p>
        </p:txBody>
      </p:sp>
      <p:pic>
        <p:nvPicPr>
          <p:cNvPr id="67" name="Picture 66" descr="A screenshot of a calendar&#10;&#10;AI-generated content may be incorrect.">
            <a:extLst>
              <a:ext uri="{FF2B5EF4-FFF2-40B4-BE49-F238E27FC236}">
                <a16:creationId xmlns:a16="http://schemas.microsoft.com/office/drawing/2014/main" id="{54A25528-4781-FF31-6E76-DCAA562A8E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00158" y="29942000"/>
            <a:ext cx="14748023" cy="6797257"/>
          </a:xfrm>
          <a:prstGeom prst="rect">
            <a:avLst/>
          </a:prstGeom>
        </p:spPr>
      </p:pic>
      <p:pic>
        <p:nvPicPr>
          <p:cNvPr id="70" name="Picture 69" descr="A screenshot of a calendar&#10;&#10;AI-generated content may be incorrect.">
            <a:extLst>
              <a:ext uri="{FF2B5EF4-FFF2-40B4-BE49-F238E27FC236}">
                <a16:creationId xmlns:a16="http://schemas.microsoft.com/office/drawing/2014/main" id="{0BD9BC23-EA39-21BE-32EA-72D8A2C2EBDE}"/>
              </a:ext>
            </a:extLst>
          </p:cNvPr>
          <p:cNvPicPr>
            <a:picLocks noChangeAspect="1"/>
          </p:cNvPicPr>
          <p:nvPr/>
        </p:nvPicPr>
        <p:blipFill>
          <a:blip r:embed="rId10">
            <a:extLst>
              <a:ext uri="{28A0092B-C50C-407E-A947-70E740481C1C}">
                <a14:useLocalDpi xmlns:a14="http://schemas.microsoft.com/office/drawing/2010/main" val="0"/>
              </a:ext>
            </a:extLst>
          </a:blip>
          <a:srcRect l="22550"/>
          <a:stretch>
            <a:fillRect/>
          </a:stretch>
        </p:blipFill>
        <p:spPr>
          <a:xfrm>
            <a:off x="18020630" y="29915666"/>
            <a:ext cx="11482299" cy="6823592"/>
          </a:xfrm>
          <a:prstGeom prst="rect">
            <a:avLst/>
          </a:prstGeom>
        </p:spPr>
      </p:pic>
      <p:sp>
        <p:nvSpPr>
          <p:cNvPr id="84" name="Titel 3">
            <a:extLst>
              <a:ext uri="{FF2B5EF4-FFF2-40B4-BE49-F238E27FC236}">
                <a16:creationId xmlns:a16="http://schemas.microsoft.com/office/drawing/2014/main" id="{B005C59D-2FC7-E8EF-99A2-7FDA78C01924}"/>
              </a:ext>
            </a:extLst>
          </p:cNvPr>
          <p:cNvSpPr txBox="1">
            <a:spLocks/>
          </p:cNvSpPr>
          <p:nvPr/>
        </p:nvSpPr>
        <p:spPr>
          <a:xfrm>
            <a:off x="20762197" y="12613381"/>
            <a:ext cx="16695329" cy="1342754"/>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pt-BR" sz="6000" dirty="0" err="1"/>
              <a:t>Strategies</a:t>
            </a:r>
            <a:endParaRPr lang="de-DE" sz="8000" dirty="0"/>
          </a:p>
        </p:txBody>
      </p:sp>
      <p:cxnSp>
        <p:nvCxnSpPr>
          <p:cNvPr id="86" name="Straight Connector 85">
            <a:extLst>
              <a:ext uri="{FF2B5EF4-FFF2-40B4-BE49-F238E27FC236}">
                <a16:creationId xmlns:a16="http://schemas.microsoft.com/office/drawing/2014/main" id="{75A3A386-989C-C8B6-1CB0-4B1C43D67F28}"/>
              </a:ext>
            </a:extLst>
          </p:cNvPr>
          <p:cNvCxnSpPr>
            <a:cxnSpLocks/>
          </p:cNvCxnSpPr>
          <p:nvPr/>
        </p:nvCxnSpPr>
        <p:spPr>
          <a:xfrm>
            <a:off x="20362657" y="6982136"/>
            <a:ext cx="0" cy="20592653"/>
          </a:xfrm>
          <a:prstGeom prst="line">
            <a:avLst/>
          </a:prstGeom>
          <a:ln/>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8B2DBCA0-20D4-A15C-1073-D6BD81162A2E}"/>
              </a:ext>
            </a:extLst>
          </p:cNvPr>
          <p:cNvSpPr txBox="1"/>
          <p:nvPr/>
        </p:nvSpPr>
        <p:spPr>
          <a:xfrm>
            <a:off x="21001159" y="19473816"/>
            <a:ext cx="8594104" cy="1200329"/>
          </a:xfrm>
          <a:prstGeom prst="rect">
            <a:avLst/>
          </a:prstGeom>
          <a:noFill/>
        </p:spPr>
        <p:txBody>
          <a:bodyPr wrap="square">
            <a:spAutoFit/>
          </a:bodyPr>
          <a:lstStyle/>
          <a:p>
            <a:r>
              <a:rPr lang="en-US" sz="3600" b="1" dirty="0">
                <a:latin typeface="Arial" panose="020B0604020202020204" pitchFamily="34" charset="0"/>
                <a:cs typeface="Arial" panose="020B0604020202020204" pitchFamily="34" charset="0"/>
              </a:rPr>
              <a:t>Z-Score:</a:t>
            </a:r>
            <a:r>
              <a:rPr lang="en-US" sz="3600" dirty="0">
                <a:latin typeface="Arial" panose="020B0604020202020204" pitchFamily="34" charset="0"/>
                <a:cs typeface="Arial" panose="020B0604020202020204" pitchFamily="34" charset="0"/>
              </a:rPr>
              <a:t> Enters at fixed ±2.0 thresholds, exits when spread returns to zero.</a:t>
            </a:r>
            <a:endParaRPr lang="de-DE" sz="3600" dirty="0">
              <a:latin typeface="Arial" panose="020B0604020202020204" pitchFamily="34" charset="0"/>
              <a:cs typeface="Arial" panose="020B0604020202020204" pitchFamily="34" charset="0"/>
            </a:endParaRPr>
          </a:p>
        </p:txBody>
      </p:sp>
      <p:sp>
        <p:nvSpPr>
          <p:cNvPr id="96" name="TextBox 95">
            <a:extLst>
              <a:ext uri="{FF2B5EF4-FFF2-40B4-BE49-F238E27FC236}">
                <a16:creationId xmlns:a16="http://schemas.microsoft.com/office/drawing/2014/main" id="{F523C6C3-D01D-4157-5012-7720BD4E85CA}"/>
              </a:ext>
            </a:extLst>
          </p:cNvPr>
          <p:cNvSpPr txBox="1"/>
          <p:nvPr/>
        </p:nvSpPr>
        <p:spPr>
          <a:xfrm>
            <a:off x="20908825" y="26470811"/>
            <a:ext cx="8594104" cy="1754326"/>
          </a:xfrm>
          <a:prstGeom prst="rect">
            <a:avLst/>
          </a:prstGeom>
          <a:noFill/>
        </p:spPr>
        <p:txBody>
          <a:bodyPr wrap="square">
            <a:spAutoFit/>
          </a:bodyPr>
          <a:lstStyle/>
          <a:p>
            <a:r>
              <a:rPr lang="en-US" sz="3600" b="1" dirty="0">
                <a:latin typeface="Arial" panose="020B0604020202020204" pitchFamily="34" charset="0"/>
                <a:cs typeface="Arial" panose="020B0604020202020204" pitchFamily="34" charset="0"/>
              </a:rPr>
              <a:t>Bollinger Bands: </a:t>
            </a:r>
            <a:r>
              <a:rPr lang="en-US" sz="3600" dirty="0">
                <a:latin typeface="Arial" panose="020B0604020202020204" pitchFamily="34" charset="0"/>
                <a:cs typeface="Arial" panose="020B0604020202020204" pitchFamily="34" charset="0"/>
              </a:rPr>
              <a:t>Uses adaptive volatility bands with dynamic hedge ratios for entry/exit signals</a:t>
            </a:r>
          </a:p>
        </p:txBody>
      </p:sp>
      <p:sp>
        <p:nvSpPr>
          <p:cNvPr id="97" name="Titel 3">
            <a:extLst>
              <a:ext uri="{FF2B5EF4-FFF2-40B4-BE49-F238E27FC236}">
                <a16:creationId xmlns:a16="http://schemas.microsoft.com/office/drawing/2014/main" id="{7F4E785F-920B-E78A-874B-A4116D5DAC24}"/>
              </a:ext>
            </a:extLst>
          </p:cNvPr>
          <p:cNvSpPr txBox="1">
            <a:spLocks/>
          </p:cNvSpPr>
          <p:nvPr/>
        </p:nvSpPr>
        <p:spPr>
          <a:xfrm>
            <a:off x="2120479" y="28674731"/>
            <a:ext cx="16695329" cy="1342754"/>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pt-BR" sz="6000" dirty="0" err="1"/>
              <a:t>Results</a:t>
            </a:r>
            <a:endParaRPr lang="de-DE" sz="8000" dirty="0"/>
          </a:p>
        </p:txBody>
      </p:sp>
      <p:cxnSp>
        <p:nvCxnSpPr>
          <p:cNvPr id="98" name="Straight Connector 97">
            <a:extLst>
              <a:ext uri="{FF2B5EF4-FFF2-40B4-BE49-F238E27FC236}">
                <a16:creationId xmlns:a16="http://schemas.microsoft.com/office/drawing/2014/main" id="{EDE45674-2A2F-FBC2-82B3-DDD09FD9222F}"/>
              </a:ext>
            </a:extLst>
          </p:cNvPr>
          <p:cNvCxnSpPr>
            <a:cxnSpLocks/>
          </p:cNvCxnSpPr>
          <p:nvPr/>
        </p:nvCxnSpPr>
        <p:spPr>
          <a:xfrm flipH="1">
            <a:off x="2322886" y="28605385"/>
            <a:ext cx="27116239" cy="0"/>
          </a:xfrm>
          <a:prstGeom prst="line">
            <a:avLst/>
          </a:prstGeom>
          <a:ln/>
        </p:spPr>
        <p:style>
          <a:lnRef idx="1">
            <a:schemeClr val="dk1"/>
          </a:lnRef>
          <a:fillRef idx="0">
            <a:schemeClr val="dk1"/>
          </a:fillRef>
          <a:effectRef idx="0">
            <a:schemeClr val="dk1"/>
          </a:effectRef>
          <a:fontRef idx="minor">
            <a:schemeClr val="tx1"/>
          </a:fontRef>
        </p:style>
      </p:cxnSp>
      <p:sp>
        <p:nvSpPr>
          <p:cNvPr id="103" name="Titel 3">
            <a:extLst>
              <a:ext uri="{FF2B5EF4-FFF2-40B4-BE49-F238E27FC236}">
                <a16:creationId xmlns:a16="http://schemas.microsoft.com/office/drawing/2014/main" id="{4DD4EA2E-7B26-FE6A-513B-6A30CA5B79D5}"/>
              </a:ext>
            </a:extLst>
          </p:cNvPr>
          <p:cNvSpPr txBox="1">
            <a:spLocks/>
          </p:cNvSpPr>
          <p:nvPr/>
        </p:nvSpPr>
        <p:spPr>
          <a:xfrm>
            <a:off x="4996341" y="28923846"/>
            <a:ext cx="11928192" cy="844523"/>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en-US" sz="3200" dirty="0">
                <a:solidFill>
                  <a:schemeClr val="accent4">
                    <a:lumMod val="75000"/>
                  </a:schemeClr>
                </a:solidFill>
                <a:latin typeface="Monaco" pitchFamily="2" charset="77"/>
                <a:cs typeface="Arial" panose="020B0604020202020204" pitchFamily="34" charset="0"/>
              </a:rPr>
              <a:t>(NASDAQ100</a:t>
            </a:r>
            <a:r>
              <a:rPr lang="en-US" sz="3200" dirty="0">
                <a:solidFill>
                  <a:schemeClr val="accent4">
                    <a:lumMod val="75000"/>
                  </a:schemeClr>
                </a:solidFill>
                <a:latin typeface="Arial" panose="020B0604020202020204" pitchFamily="34" charset="0"/>
                <a:cs typeface="Arial" panose="020B0604020202020204" pitchFamily="34" charset="0"/>
              </a:rPr>
              <a:t> left, </a:t>
            </a:r>
            <a:r>
              <a:rPr lang="en-US" sz="3200" dirty="0">
                <a:solidFill>
                  <a:schemeClr val="accent4">
                    <a:lumMod val="75000"/>
                  </a:schemeClr>
                </a:solidFill>
                <a:latin typeface="Monaco" pitchFamily="2" charset="77"/>
                <a:cs typeface="Arial" panose="020B0604020202020204" pitchFamily="34" charset="0"/>
              </a:rPr>
              <a:t>FTSE100</a:t>
            </a:r>
            <a:r>
              <a:rPr lang="en-US" sz="3200" dirty="0">
                <a:solidFill>
                  <a:schemeClr val="accent4">
                    <a:lumMod val="75000"/>
                  </a:schemeClr>
                </a:solidFill>
                <a:latin typeface="Arial" panose="020B0604020202020204" pitchFamily="34" charset="0"/>
                <a:cs typeface="Arial" panose="020B0604020202020204" pitchFamily="34" charset="0"/>
              </a:rPr>
              <a:t> right) </a:t>
            </a:r>
            <a:endParaRPr lang="de-DE" sz="3200" dirty="0">
              <a:solidFill>
                <a:schemeClr val="accent4">
                  <a:lumMod val="75000"/>
                </a:schemeClr>
              </a:solidFill>
              <a:latin typeface="Arial" panose="020B0604020202020204" pitchFamily="34" charset="0"/>
              <a:cs typeface="Arial" panose="020B0604020202020204" pitchFamily="34" charset="0"/>
            </a:endParaRPr>
          </a:p>
        </p:txBody>
      </p:sp>
      <p:graphicFrame>
        <p:nvGraphicFramePr>
          <p:cNvPr id="105" name="Table 104">
            <a:extLst>
              <a:ext uri="{FF2B5EF4-FFF2-40B4-BE49-F238E27FC236}">
                <a16:creationId xmlns:a16="http://schemas.microsoft.com/office/drawing/2014/main" id="{48CFBC88-FDDB-4489-CDF8-17BB2F0696DA}"/>
              </a:ext>
            </a:extLst>
          </p:cNvPr>
          <p:cNvGraphicFramePr>
            <a:graphicFrameLocks noGrp="1"/>
          </p:cNvGraphicFramePr>
          <p:nvPr>
            <p:extLst>
              <p:ext uri="{D42A27DB-BD31-4B8C-83A1-F6EECF244321}">
                <p14:modId xmlns:p14="http://schemas.microsoft.com/office/powerpoint/2010/main" val="2371508929"/>
              </p:ext>
            </p:extLst>
          </p:nvPr>
        </p:nvGraphicFramePr>
        <p:xfrm>
          <a:off x="5851278" y="37055240"/>
          <a:ext cx="11255296" cy="5456525"/>
        </p:xfrm>
        <a:graphic>
          <a:graphicData uri="http://schemas.openxmlformats.org/drawingml/2006/table">
            <a:tbl>
              <a:tblPr firstRow="1" bandRow="1">
                <a:tableStyleId>{073A0DAA-6AF3-43AB-8588-CEC1D06C72B9}</a:tableStyleId>
              </a:tblPr>
              <a:tblGrid>
                <a:gridCol w="2813824">
                  <a:extLst>
                    <a:ext uri="{9D8B030D-6E8A-4147-A177-3AD203B41FA5}">
                      <a16:colId xmlns:a16="http://schemas.microsoft.com/office/drawing/2014/main" val="2264268107"/>
                    </a:ext>
                  </a:extLst>
                </a:gridCol>
                <a:gridCol w="2370752">
                  <a:extLst>
                    <a:ext uri="{9D8B030D-6E8A-4147-A177-3AD203B41FA5}">
                      <a16:colId xmlns:a16="http://schemas.microsoft.com/office/drawing/2014/main" val="2053735069"/>
                    </a:ext>
                  </a:extLst>
                </a:gridCol>
                <a:gridCol w="2664296">
                  <a:extLst>
                    <a:ext uri="{9D8B030D-6E8A-4147-A177-3AD203B41FA5}">
                      <a16:colId xmlns:a16="http://schemas.microsoft.com/office/drawing/2014/main" val="1837264685"/>
                    </a:ext>
                  </a:extLst>
                </a:gridCol>
                <a:gridCol w="3406424">
                  <a:extLst>
                    <a:ext uri="{9D8B030D-6E8A-4147-A177-3AD203B41FA5}">
                      <a16:colId xmlns:a16="http://schemas.microsoft.com/office/drawing/2014/main" val="646903243"/>
                    </a:ext>
                  </a:extLst>
                </a:gridCol>
              </a:tblGrid>
              <a:tr h="964099">
                <a:tc>
                  <a:txBody>
                    <a:bodyPr/>
                    <a:lstStyle/>
                    <a:p>
                      <a:pPr>
                        <a:buNone/>
                      </a:pPr>
                      <a:r>
                        <a:rPr lang="en-US" sz="2800" b="0" dirty="0">
                          <a:latin typeface="Georgia" panose="02040502050405020303" pitchFamily="18" charset="0"/>
                        </a:rPr>
                        <a:t>Ansatz</a:t>
                      </a:r>
                    </a:p>
                  </a:txBody>
                  <a:tcPr anchor="ctr"/>
                </a:tc>
                <a:tc>
                  <a:txBody>
                    <a:bodyPr/>
                    <a:lstStyle/>
                    <a:p>
                      <a:pPr>
                        <a:buNone/>
                      </a:pPr>
                      <a:r>
                        <a:rPr lang="en-US" sz="2800" b="0" dirty="0">
                          <a:latin typeface="Georgia" panose="02040502050405020303" pitchFamily="18" charset="0"/>
                        </a:rPr>
                        <a:t>Strategy</a:t>
                      </a:r>
                    </a:p>
                  </a:txBody>
                  <a:tcPr anchor="ctr"/>
                </a:tc>
                <a:tc>
                  <a:txBody>
                    <a:bodyPr/>
                    <a:lstStyle/>
                    <a:p>
                      <a:pPr>
                        <a:buNone/>
                      </a:pPr>
                      <a:r>
                        <a:rPr lang="en-US" sz="2800" b="0" dirty="0">
                          <a:latin typeface="Georgia" panose="02040502050405020303" pitchFamily="18" charset="0"/>
                        </a:rPr>
                        <a:t>Return (%)</a:t>
                      </a:r>
                    </a:p>
                  </a:txBody>
                  <a:tcPr anchor="ctr"/>
                </a:tc>
                <a:tc>
                  <a:txBody>
                    <a:bodyPr/>
                    <a:lstStyle/>
                    <a:p>
                      <a:pPr>
                        <a:buNone/>
                      </a:pPr>
                      <a:r>
                        <a:rPr lang="en-US" sz="2800" b="0" dirty="0">
                          <a:latin typeface="Georgia" panose="02040502050405020303" pitchFamily="18" charset="0"/>
                        </a:rPr>
                        <a:t>Max Drawdown (%)</a:t>
                      </a:r>
                    </a:p>
                  </a:txBody>
                  <a:tcPr anchor="ctr"/>
                </a:tc>
                <a:extLst>
                  <a:ext uri="{0D108BD9-81ED-4DB2-BD59-A6C34878D82A}">
                    <a16:rowId xmlns:a16="http://schemas.microsoft.com/office/drawing/2014/main" val="3114047560"/>
                  </a:ext>
                </a:extLst>
              </a:tr>
              <a:tr h="964099">
                <a:tc>
                  <a:txBody>
                    <a:bodyPr/>
                    <a:lstStyle/>
                    <a:p>
                      <a:pPr>
                        <a:buNone/>
                      </a:pPr>
                      <a:r>
                        <a:rPr lang="en-US" sz="2800" dirty="0">
                          <a:latin typeface="Arial" panose="020B0604020202020204" pitchFamily="34" charset="0"/>
                          <a:cs typeface="Arial" panose="020B0604020202020204" pitchFamily="34" charset="0"/>
                        </a:rPr>
                        <a:t>Affinity Propagation</a:t>
                      </a:r>
                    </a:p>
                  </a:txBody>
                  <a:tcPr anchor="ctr"/>
                </a:tc>
                <a:tc>
                  <a:txBody>
                    <a:bodyPr/>
                    <a:lstStyle/>
                    <a:p>
                      <a:pPr>
                        <a:buNone/>
                      </a:pPr>
                      <a:r>
                        <a:rPr lang="en-US" sz="2800" dirty="0">
                          <a:latin typeface="Arial" panose="020B0604020202020204" pitchFamily="34" charset="0"/>
                          <a:cs typeface="Arial" panose="020B0604020202020204" pitchFamily="34" charset="0"/>
                        </a:rPr>
                        <a:t>Z-Score</a:t>
                      </a:r>
                    </a:p>
                  </a:txBody>
                  <a:tcPr anchor="ctr"/>
                </a:tc>
                <a:tc>
                  <a:txBody>
                    <a:bodyPr/>
                    <a:lstStyle/>
                    <a:p>
                      <a:pPr>
                        <a:buNone/>
                      </a:pPr>
                      <a:r>
                        <a:rPr lang="en-US" sz="2800" dirty="0">
                          <a:latin typeface="Monaco" pitchFamily="2" charset="77"/>
                          <a:cs typeface="Arial" panose="020B0604020202020204" pitchFamily="34" charset="0"/>
                        </a:rPr>
                        <a:t>14.30</a:t>
                      </a:r>
                    </a:p>
                  </a:txBody>
                  <a:tcPr anchor="ctr"/>
                </a:tc>
                <a:tc>
                  <a:txBody>
                    <a:bodyPr/>
                    <a:lstStyle/>
                    <a:p>
                      <a:pPr>
                        <a:buNone/>
                      </a:pPr>
                      <a:r>
                        <a:rPr lang="en-US" sz="2800" dirty="0">
                          <a:latin typeface="Monaco" pitchFamily="2" charset="77"/>
                          <a:cs typeface="Arial" panose="020B0604020202020204" pitchFamily="34" charset="0"/>
                        </a:rPr>
                        <a:t>-0.09</a:t>
                      </a:r>
                    </a:p>
                  </a:txBody>
                  <a:tcPr anchor="ctr"/>
                </a:tc>
                <a:extLst>
                  <a:ext uri="{0D108BD9-81ED-4DB2-BD59-A6C34878D82A}">
                    <a16:rowId xmlns:a16="http://schemas.microsoft.com/office/drawing/2014/main" val="987746841"/>
                  </a:ext>
                </a:extLst>
              </a:tr>
              <a:tr h="641057">
                <a:tc>
                  <a:txBody>
                    <a:bodyPr/>
                    <a:lstStyle/>
                    <a:p>
                      <a:pPr>
                        <a:buNone/>
                      </a:pPr>
                      <a:r>
                        <a:rPr lang="en-US" sz="2800" dirty="0">
                          <a:latin typeface="Arial" panose="020B0604020202020204" pitchFamily="34" charset="0"/>
                          <a:cs typeface="Arial" panose="020B0604020202020204" pitchFamily="34" charset="0"/>
                        </a:rPr>
                        <a:t>Gradient Boost</a:t>
                      </a:r>
                    </a:p>
                  </a:txBody>
                  <a:tcPr anchor="ctr"/>
                </a:tc>
                <a:tc>
                  <a:txBody>
                    <a:bodyPr/>
                    <a:lstStyle/>
                    <a:p>
                      <a:pPr>
                        <a:buNone/>
                      </a:pPr>
                      <a:r>
                        <a:rPr lang="en-US" sz="2800" dirty="0">
                          <a:latin typeface="Arial" panose="020B0604020202020204" pitchFamily="34" charset="0"/>
                          <a:cs typeface="Arial" panose="020B0604020202020204" pitchFamily="34" charset="0"/>
                        </a:rPr>
                        <a:t>Z-Score</a:t>
                      </a:r>
                    </a:p>
                  </a:txBody>
                  <a:tcPr anchor="ctr"/>
                </a:tc>
                <a:tc>
                  <a:txBody>
                    <a:bodyPr/>
                    <a:lstStyle/>
                    <a:p>
                      <a:pPr>
                        <a:buNone/>
                      </a:pPr>
                      <a:r>
                        <a:rPr lang="en-US" sz="2800" dirty="0">
                          <a:latin typeface="Monaco" pitchFamily="2" charset="77"/>
                          <a:cs typeface="Arial" panose="020B0604020202020204" pitchFamily="34" charset="0"/>
                        </a:rPr>
                        <a:t>13.75</a:t>
                      </a:r>
                    </a:p>
                  </a:txBody>
                  <a:tcPr anchor="ctr"/>
                </a:tc>
                <a:tc>
                  <a:txBody>
                    <a:bodyPr/>
                    <a:lstStyle/>
                    <a:p>
                      <a:pPr>
                        <a:buNone/>
                      </a:pPr>
                      <a:r>
                        <a:rPr lang="en-US" sz="2800" dirty="0">
                          <a:latin typeface="Monaco" pitchFamily="2" charset="77"/>
                          <a:cs typeface="Arial" panose="020B0604020202020204" pitchFamily="34" charset="0"/>
                        </a:rPr>
                        <a:t>-0.09</a:t>
                      </a:r>
                    </a:p>
                  </a:txBody>
                  <a:tcPr anchor="ctr"/>
                </a:tc>
                <a:extLst>
                  <a:ext uri="{0D108BD9-81ED-4DB2-BD59-A6C34878D82A}">
                    <a16:rowId xmlns:a16="http://schemas.microsoft.com/office/drawing/2014/main" val="2913127435"/>
                  </a:ext>
                </a:extLst>
              </a:tr>
              <a:tr h="641057">
                <a:tc>
                  <a:txBody>
                    <a:bodyPr/>
                    <a:lstStyle/>
                    <a:p>
                      <a:pPr>
                        <a:buNone/>
                      </a:pPr>
                      <a:r>
                        <a:rPr lang="en-US" sz="2800">
                          <a:latin typeface="Arial" panose="020B0604020202020204" pitchFamily="34" charset="0"/>
                          <a:cs typeface="Arial" panose="020B0604020202020204" pitchFamily="34" charset="0"/>
                        </a:rPr>
                        <a:t>Gradient Boost</a:t>
                      </a:r>
                    </a:p>
                  </a:txBody>
                  <a:tcPr anchor="ctr"/>
                </a:tc>
                <a:tc>
                  <a:txBody>
                    <a:bodyPr/>
                    <a:lstStyle/>
                    <a:p>
                      <a:pPr>
                        <a:buNone/>
                      </a:pPr>
                      <a:r>
                        <a:rPr lang="en-US" sz="2800" dirty="0">
                          <a:latin typeface="Arial" panose="020B0604020202020204" pitchFamily="34" charset="0"/>
                          <a:cs typeface="Arial" panose="020B0604020202020204" pitchFamily="34" charset="0"/>
                        </a:rPr>
                        <a:t>Bollinger</a:t>
                      </a:r>
                    </a:p>
                  </a:txBody>
                  <a:tcPr anchor="ctr"/>
                </a:tc>
                <a:tc>
                  <a:txBody>
                    <a:bodyPr/>
                    <a:lstStyle/>
                    <a:p>
                      <a:pPr>
                        <a:buNone/>
                      </a:pPr>
                      <a:r>
                        <a:rPr lang="en-US" sz="2800" dirty="0">
                          <a:latin typeface="Monaco" pitchFamily="2" charset="77"/>
                          <a:cs typeface="Arial" panose="020B0604020202020204" pitchFamily="34" charset="0"/>
                        </a:rPr>
                        <a:t>12.11</a:t>
                      </a:r>
                    </a:p>
                  </a:txBody>
                  <a:tcPr anchor="ctr"/>
                </a:tc>
                <a:tc>
                  <a:txBody>
                    <a:bodyPr/>
                    <a:lstStyle/>
                    <a:p>
                      <a:pPr>
                        <a:buNone/>
                      </a:pPr>
                      <a:r>
                        <a:rPr lang="en-US" sz="2800" dirty="0">
                          <a:latin typeface="Monaco" pitchFamily="2" charset="77"/>
                          <a:cs typeface="Arial" panose="020B0604020202020204" pitchFamily="34" charset="0"/>
                        </a:rPr>
                        <a:t>-0.09</a:t>
                      </a:r>
                    </a:p>
                  </a:txBody>
                  <a:tcPr anchor="ctr"/>
                </a:tc>
                <a:extLst>
                  <a:ext uri="{0D108BD9-81ED-4DB2-BD59-A6C34878D82A}">
                    <a16:rowId xmlns:a16="http://schemas.microsoft.com/office/drawing/2014/main" val="2557403675"/>
                  </a:ext>
                </a:extLst>
              </a:tr>
              <a:tr h="964099">
                <a:tc>
                  <a:txBody>
                    <a:bodyPr/>
                    <a:lstStyle/>
                    <a:p>
                      <a:pPr>
                        <a:buNone/>
                      </a:pPr>
                      <a:r>
                        <a:rPr lang="en-US" sz="2800">
                          <a:latin typeface="Arial" panose="020B0604020202020204" pitchFamily="34" charset="0"/>
                          <a:cs typeface="Arial" panose="020B0604020202020204" pitchFamily="34" charset="0"/>
                        </a:rPr>
                        <a:t>Affinity Propagation</a:t>
                      </a:r>
                    </a:p>
                  </a:txBody>
                  <a:tcPr anchor="ctr"/>
                </a:tc>
                <a:tc>
                  <a:txBody>
                    <a:bodyPr/>
                    <a:lstStyle/>
                    <a:p>
                      <a:pPr>
                        <a:buNone/>
                      </a:pPr>
                      <a:r>
                        <a:rPr lang="en-US" sz="2800" dirty="0">
                          <a:latin typeface="Arial" panose="020B0604020202020204" pitchFamily="34" charset="0"/>
                          <a:cs typeface="Arial" panose="020B0604020202020204" pitchFamily="34" charset="0"/>
                        </a:rPr>
                        <a:t>Bollinger</a:t>
                      </a:r>
                    </a:p>
                  </a:txBody>
                  <a:tcPr anchor="ctr"/>
                </a:tc>
                <a:tc>
                  <a:txBody>
                    <a:bodyPr/>
                    <a:lstStyle/>
                    <a:p>
                      <a:pPr>
                        <a:buNone/>
                      </a:pPr>
                      <a:r>
                        <a:rPr lang="en-US" sz="2800" dirty="0">
                          <a:latin typeface="Monaco" pitchFamily="2" charset="77"/>
                          <a:cs typeface="Arial" panose="020B0604020202020204" pitchFamily="34" charset="0"/>
                        </a:rPr>
                        <a:t>11.18</a:t>
                      </a:r>
                    </a:p>
                  </a:txBody>
                  <a:tcPr anchor="ctr"/>
                </a:tc>
                <a:tc>
                  <a:txBody>
                    <a:bodyPr/>
                    <a:lstStyle/>
                    <a:p>
                      <a:pPr>
                        <a:buNone/>
                      </a:pPr>
                      <a:r>
                        <a:rPr lang="en-US" sz="2800" dirty="0">
                          <a:latin typeface="Monaco" pitchFamily="2" charset="77"/>
                          <a:cs typeface="Arial" panose="020B0604020202020204" pitchFamily="34" charset="0"/>
                        </a:rPr>
                        <a:t>-0.07</a:t>
                      </a:r>
                    </a:p>
                  </a:txBody>
                  <a:tcPr anchor="ctr"/>
                </a:tc>
                <a:extLst>
                  <a:ext uri="{0D108BD9-81ED-4DB2-BD59-A6C34878D82A}">
                    <a16:rowId xmlns:a16="http://schemas.microsoft.com/office/drawing/2014/main" val="2316826185"/>
                  </a:ext>
                </a:extLst>
              </a:tr>
              <a:tr h="641057">
                <a:tc>
                  <a:txBody>
                    <a:bodyPr/>
                    <a:lstStyle/>
                    <a:p>
                      <a:pPr>
                        <a:buNone/>
                      </a:pPr>
                      <a:r>
                        <a:rPr lang="en-US" sz="2800">
                          <a:latin typeface="Arial" panose="020B0604020202020204" pitchFamily="34" charset="0"/>
                          <a:cs typeface="Arial" panose="020B0604020202020204" pitchFamily="34" charset="0"/>
                        </a:rPr>
                        <a:t>Kointegration</a:t>
                      </a:r>
                    </a:p>
                  </a:txBody>
                  <a:tcPr anchor="ctr"/>
                </a:tc>
                <a:tc>
                  <a:txBody>
                    <a:bodyPr/>
                    <a:lstStyle/>
                    <a:p>
                      <a:pPr>
                        <a:buNone/>
                      </a:pPr>
                      <a:r>
                        <a:rPr lang="en-US" sz="2800">
                          <a:latin typeface="Arial" panose="020B0604020202020204" pitchFamily="34" charset="0"/>
                          <a:cs typeface="Arial" panose="020B0604020202020204" pitchFamily="34" charset="0"/>
                        </a:rPr>
                        <a:t>Z-Score</a:t>
                      </a:r>
                    </a:p>
                  </a:txBody>
                  <a:tcPr anchor="ctr"/>
                </a:tc>
                <a:tc>
                  <a:txBody>
                    <a:bodyPr/>
                    <a:lstStyle/>
                    <a:p>
                      <a:pPr>
                        <a:buNone/>
                      </a:pPr>
                      <a:r>
                        <a:rPr lang="en-US" sz="2800" dirty="0">
                          <a:latin typeface="Monaco" pitchFamily="2" charset="77"/>
                          <a:cs typeface="Arial" panose="020B0604020202020204" pitchFamily="34" charset="0"/>
                        </a:rPr>
                        <a:t>0.81</a:t>
                      </a:r>
                    </a:p>
                  </a:txBody>
                  <a:tcPr anchor="ctr"/>
                </a:tc>
                <a:tc>
                  <a:txBody>
                    <a:bodyPr/>
                    <a:lstStyle/>
                    <a:p>
                      <a:pPr>
                        <a:buNone/>
                      </a:pPr>
                      <a:r>
                        <a:rPr lang="en-US" sz="2800" dirty="0">
                          <a:latin typeface="Monaco" pitchFamily="2" charset="77"/>
                          <a:cs typeface="Arial" panose="020B0604020202020204" pitchFamily="34" charset="0"/>
                        </a:rPr>
                        <a:t>-0.88</a:t>
                      </a:r>
                    </a:p>
                  </a:txBody>
                  <a:tcPr anchor="ctr"/>
                </a:tc>
                <a:extLst>
                  <a:ext uri="{0D108BD9-81ED-4DB2-BD59-A6C34878D82A}">
                    <a16:rowId xmlns:a16="http://schemas.microsoft.com/office/drawing/2014/main" val="1981368839"/>
                  </a:ext>
                </a:extLst>
              </a:tr>
              <a:tr h="641057">
                <a:tc>
                  <a:txBody>
                    <a:bodyPr/>
                    <a:lstStyle/>
                    <a:p>
                      <a:pPr>
                        <a:buNone/>
                      </a:pPr>
                      <a:r>
                        <a:rPr lang="en-US" sz="2800">
                          <a:latin typeface="Arial" panose="020B0604020202020204" pitchFamily="34" charset="0"/>
                          <a:cs typeface="Arial" panose="020B0604020202020204" pitchFamily="34" charset="0"/>
                        </a:rPr>
                        <a:t>Kointegration</a:t>
                      </a:r>
                    </a:p>
                  </a:txBody>
                  <a:tcPr anchor="ctr"/>
                </a:tc>
                <a:tc>
                  <a:txBody>
                    <a:bodyPr/>
                    <a:lstStyle/>
                    <a:p>
                      <a:pPr>
                        <a:buNone/>
                      </a:pPr>
                      <a:r>
                        <a:rPr lang="en-US" sz="2800">
                          <a:latin typeface="Arial" panose="020B0604020202020204" pitchFamily="34" charset="0"/>
                          <a:cs typeface="Arial" panose="020B0604020202020204" pitchFamily="34" charset="0"/>
                        </a:rPr>
                        <a:t>Bollinger</a:t>
                      </a:r>
                    </a:p>
                  </a:txBody>
                  <a:tcPr anchor="ctr"/>
                </a:tc>
                <a:tc>
                  <a:txBody>
                    <a:bodyPr/>
                    <a:lstStyle/>
                    <a:p>
                      <a:pPr>
                        <a:buNone/>
                      </a:pPr>
                      <a:r>
                        <a:rPr lang="en-US" sz="2800" dirty="0">
                          <a:latin typeface="Monaco" pitchFamily="2" charset="77"/>
                          <a:cs typeface="Arial" panose="020B0604020202020204" pitchFamily="34" charset="0"/>
                        </a:rPr>
                        <a:t>-12.57</a:t>
                      </a:r>
                    </a:p>
                  </a:txBody>
                  <a:tcPr anchor="ctr"/>
                </a:tc>
                <a:tc>
                  <a:txBody>
                    <a:bodyPr/>
                    <a:lstStyle/>
                    <a:p>
                      <a:pPr>
                        <a:buNone/>
                      </a:pPr>
                      <a:r>
                        <a:rPr lang="en-US" sz="2800" dirty="0">
                          <a:latin typeface="Monaco" pitchFamily="2" charset="77"/>
                          <a:cs typeface="Arial" panose="020B0604020202020204" pitchFamily="34" charset="0"/>
                        </a:rPr>
                        <a:t>-13.09</a:t>
                      </a:r>
                    </a:p>
                  </a:txBody>
                  <a:tcPr anchor="ctr"/>
                </a:tc>
                <a:extLst>
                  <a:ext uri="{0D108BD9-81ED-4DB2-BD59-A6C34878D82A}">
                    <a16:rowId xmlns:a16="http://schemas.microsoft.com/office/drawing/2014/main" val="876726087"/>
                  </a:ext>
                </a:extLst>
              </a:tr>
            </a:tbl>
          </a:graphicData>
        </a:graphic>
      </p:graphicFrame>
      <p:graphicFrame>
        <p:nvGraphicFramePr>
          <p:cNvPr id="107" name="Table 106">
            <a:extLst>
              <a:ext uri="{FF2B5EF4-FFF2-40B4-BE49-F238E27FC236}">
                <a16:creationId xmlns:a16="http://schemas.microsoft.com/office/drawing/2014/main" id="{D63615BA-070F-8F10-35E8-DA6C007C5E79}"/>
              </a:ext>
            </a:extLst>
          </p:cNvPr>
          <p:cNvGraphicFramePr>
            <a:graphicFrameLocks noGrp="1"/>
          </p:cNvGraphicFramePr>
          <p:nvPr>
            <p:extLst>
              <p:ext uri="{D42A27DB-BD31-4B8C-83A1-F6EECF244321}">
                <p14:modId xmlns:p14="http://schemas.microsoft.com/office/powerpoint/2010/main" val="4274465609"/>
              </p:ext>
            </p:extLst>
          </p:nvPr>
        </p:nvGraphicFramePr>
        <p:xfrm>
          <a:off x="18134130" y="37029112"/>
          <a:ext cx="11255296" cy="5482653"/>
        </p:xfrm>
        <a:graphic>
          <a:graphicData uri="http://schemas.openxmlformats.org/drawingml/2006/table">
            <a:tbl>
              <a:tblPr firstRow="1" bandRow="1">
                <a:tableStyleId>{073A0DAA-6AF3-43AB-8588-CEC1D06C72B9}</a:tableStyleId>
              </a:tblPr>
              <a:tblGrid>
                <a:gridCol w="2813824">
                  <a:extLst>
                    <a:ext uri="{9D8B030D-6E8A-4147-A177-3AD203B41FA5}">
                      <a16:colId xmlns:a16="http://schemas.microsoft.com/office/drawing/2014/main" val="2264268107"/>
                    </a:ext>
                  </a:extLst>
                </a:gridCol>
                <a:gridCol w="2257252">
                  <a:extLst>
                    <a:ext uri="{9D8B030D-6E8A-4147-A177-3AD203B41FA5}">
                      <a16:colId xmlns:a16="http://schemas.microsoft.com/office/drawing/2014/main" val="2053735069"/>
                    </a:ext>
                  </a:extLst>
                </a:gridCol>
                <a:gridCol w="2736304">
                  <a:extLst>
                    <a:ext uri="{9D8B030D-6E8A-4147-A177-3AD203B41FA5}">
                      <a16:colId xmlns:a16="http://schemas.microsoft.com/office/drawing/2014/main" val="1837264685"/>
                    </a:ext>
                  </a:extLst>
                </a:gridCol>
                <a:gridCol w="3447916">
                  <a:extLst>
                    <a:ext uri="{9D8B030D-6E8A-4147-A177-3AD203B41FA5}">
                      <a16:colId xmlns:a16="http://schemas.microsoft.com/office/drawing/2014/main" val="741953867"/>
                    </a:ext>
                  </a:extLst>
                </a:gridCol>
              </a:tblGrid>
              <a:tr h="950271">
                <a:tc>
                  <a:txBody>
                    <a:bodyPr/>
                    <a:lstStyle/>
                    <a:p>
                      <a:pPr>
                        <a:buNone/>
                      </a:pPr>
                      <a:r>
                        <a:rPr lang="en-US" sz="2800" b="0" dirty="0">
                          <a:latin typeface="Georgia" panose="02040502050405020303" pitchFamily="18" charset="0"/>
                        </a:rPr>
                        <a:t>Ansatz</a:t>
                      </a:r>
                    </a:p>
                  </a:txBody>
                  <a:tcPr anchor="ctr"/>
                </a:tc>
                <a:tc>
                  <a:txBody>
                    <a:bodyPr/>
                    <a:lstStyle/>
                    <a:p>
                      <a:pPr>
                        <a:buNone/>
                      </a:pPr>
                      <a:r>
                        <a:rPr lang="en-US" sz="2800" b="0" dirty="0">
                          <a:latin typeface="Georgia" panose="02040502050405020303" pitchFamily="18" charset="0"/>
                        </a:rPr>
                        <a:t>Strategy</a:t>
                      </a:r>
                    </a:p>
                  </a:txBody>
                  <a:tcPr anchor="ctr"/>
                </a:tc>
                <a:tc>
                  <a:txBody>
                    <a:bodyPr/>
                    <a:lstStyle/>
                    <a:p>
                      <a:pPr>
                        <a:buNone/>
                      </a:pPr>
                      <a:r>
                        <a:rPr lang="en-US" sz="2800" b="0" dirty="0">
                          <a:latin typeface="Georgia" panose="02040502050405020303" pitchFamily="18" charset="0"/>
                        </a:rPr>
                        <a:t>Return (%)</a:t>
                      </a:r>
                    </a:p>
                  </a:txBody>
                  <a:tcPr anchor="ctr"/>
                </a:tc>
                <a:tc>
                  <a:txBody>
                    <a:bodyPr/>
                    <a:lstStyle/>
                    <a:p>
                      <a:pPr marL="0" marR="0" indent="0" algn="l" defTabSz="4258627" rtl="0" eaLnBrk="1" fontAlgn="auto" latinLnBrk="0" hangingPunct="1">
                        <a:lnSpc>
                          <a:spcPct val="100000"/>
                        </a:lnSpc>
                        <a:spcBef>
                          <a:spcPts val="0"/>
                        </a:spcBef>
                        <a:spcAft>
                          <a:spcPts val="0"/>
                        </a:spcAft>
                        <a:buClrTx/>
                        <a:buSzTx/>
                        <a:buFontTx/>
                        <a:buNone/>
                        <a:tabLst/>
                        <a:defRPr/>
                      </a:pPr>
                      <a:r>
                        <a:rPr lang="en-US" sz="2800" b="0" dirty="0">
                          <a:latin typeface="Georgia" panose="02040502050405020303" pitchFamily="18" charset="0"/>
                        </a:rPr>
                        <a:t>Max Drawdown (%)</a:t>
                      </a:r>
                    </a:p>
                  </a:txBody>
                  <a:tcPr anchor="ctr"/>
                </a:tc>
                <a:extLst>
                  <a:ext uri="{0D108BD9-81ED-4DB2-BD59-A6C34878D82A}">
                    <a16:rowId xmlns:a16="http://schemas.microsoft.com/office/drawing/2014/main" val="3114047560"/>
                  </a:ext>
                </a:extLst>
              </a:tr>
              <a:tr h="667947">
                <a:tc>
                  <a:txBody>
                    <a:bodyPr/>
                    <a:lstStyle/>
                    <a:p>
                      <a:pPr>
                        <a:buNone/>
                      </a:pPr>
                      <a:r>
                        <a:rPr lang="en-US" sz="2800" dirty="0">
                          <a:latin typeface="Arial" panose="020B0604020202020204" pitchFamily="34" charset="0"/>
                          <a:cs typeface="Arial" panose="020B0604020202020204" pitchFamily="34" charset="0"/>
                        </a:rPr>
                        <a:t>Gradient Boost</a:t>
                      </a:r>
                    </a:p>
                  </a:txBody>
                  <a:tcPr anchor="ctr"/>
                </a:tc>
                <a:tc>
                  <a:txBody>
                    <a:bodyPr/>
                    <a:lstStyle/>
                    <a:p>
                      <a:pPr>
                        <a:buNone/>
                      </a:pPr>
                      <a:r>
                        <a:rPr lang="en-US" sz="2800" dirty="0">
                          <a:latin typeface="Arial" panose="020B0604020202020204" pitchFamily="34" charset="0"/>
                          <a:cs typeface="Arial" panose="020B0604020202020204" pitchFamily="34" charset="0"/>
                        </a:rPr>
                        <a:t>Z-Score</a:t>
                      </a:r>
                    </a:p>
                  </a:txBody>
                  <a:tcPr anchor="ctr"/>
                </a:tc>
                <a:tc>
                  <a:txBody>
                    <a:bodyPr/>
                    <a:lstStyle/>
                    <a:p>
                      <a:pPr>
                        <a:buNone/>
                      </a:pPr>
                      <a:r>
                        <a:rPr lang="en-US" sz="2800" dirty="0">
                          <a:latin typeface="Monaco" pitchFamily="2" charset="77"/>
                        </a:rPr>
                        <a:t>20.90</a:t>
                      </a:r>
                    </a:p>
                  </a:txBody>
                  <a:tcPr anchor="ctr"/>
                </a:tc>
                <a:tc>
                  <a:txBody>
                    <a:bodyPr/>
                    <a:lstStyle/>
                    <a:p>
                      <a:pPr>
                        <a:buNone/>
                      </a:pPr>
                      <a:r>
                        <a:rPr lang="en-US" sz="2800" dirty="0">
                          <a:latin typeface="Monaco" pitchFamily="2" charset="77"/>
                        </a:rPr>
                        <a:t>-0.11</a:t>
                      </a:r>
                    </a:p>
                  </a:txBody>
                  <a:tcPr anchor="ctr"/>
                </a:tc>
                <a:extLst>
                  <a:ext uri="{0D108BD9-81ED-4DB2-BD59-A6C34878D82A}">
                    <a16:rowId xmlns:a16="http://schemas.microsoft.com/office/drawing/2014/main" val="987746841"/>
                  </a:ext>
                </a:extLst>
              </a:tr>
              <a:tr h="654631">
                <a:tc>
                  <a:txBody>
                    <a:bodyPr/>
                    <a:lstStyle/>
                    <a:p>
                      <a:pPr>
                        <a:buNone/>
                      </a:pPr>
                      <a:r>
                        <a:rPr lang="en-US" sz="2800" dirty="0">
                          <a:latin typeface="Arial" panose="020B0604020202020204" pitchFamily="34" charset="0"/>
                          <a:cs typeface="Arial" panose="020B0604020202020204" pitchFamily="34" charset="0"/>
                        </a:rPr>
                        <a:t>Gradient Boost</a:t>
                      </a:r>
                    </a:p>
                  </a:txBody>
                  <a:tcPr anchor="ctr"/>
                </a:tc>
                <a:tc>
                  <a:txBody>
                    <a:bodyPr/>
                    <a:lstStyle/>
                    <a:p>
                      <a:pPr>
                        <a:buNone/>
                      </a:pPr>
                      <a:r>
                        <a:rPr lang="en-US" sz="2800">
                          <a:latin typeface="Arial" panose="020B0604020202020204" pitchFamily="34" charset="0"/>
                          <a:cs typeface="Arial" panose="020B0604020202020204" pitchFamily="34" charset="0"/>
                        </a:rPr>
                        <a:t>Bollinger</a:t>
                      </a:r>
                    </a:p>
                  </a:txBody>
                  <a:tcPr anchor="ctr"/>
                </a:tc>
                <a:tc>
                  <a:txBody>
                    <a:bodyPr/>
                    <a:lstStyle/>
                    <a:p>
                      <a:pPr>
                        <a:buNone/>
                      </a:pPr>
                      <a:r>
                        <a:rPr lang="en-US" sz="2800" dirty="0">
                          <a:latin typeface="Monaco" pitchFamily="2" charset="77"/>
                        </a:rPr>
                        <a:t>20.47</a:t>
                      </a:r>
                    </a:p>
                  </a:txBody>
                  <a:tcPr anchor="ctr"/>
                </a:tc>
                <a:tc>
                  <a:txBody>
                    <a:bodyPr/>
                    <a:lstStyle/>
                    <a:p>
                      <a:pPr>
                        <a:buNone/>
                      </a:pPr>
                      <a:r>
                        <a:rPr lang="en-US" sz="2800" dirty="0">
                          <a:latin typeface="Monaco" pitchFamily="2" charset="77"/>
                        </a:rPr>
                        <a:t>-0.18</a:t>
                      </a:r>
                    </a:p>
                  </a:txBody>
                  <a:tcPr anchor="ctr"/>
                </a:tc>
                <a:extLst>
                  <a:ext uri="{0D108BD9-81ED-4DB2-BD59-A6C34878D82A}">
                    <a16:rowId xmlns:a16="http://schemas.microsoft.com/office/drawing/2014/main" val="2913127435"/>
                  </a:ext>
                </a:extLst>
              </a:tr>
              <a:tr h="950271">
                <a:tc>
                  <a:txBody>
                    <a:bodyPr/>
                    <a:lstStyle/>
                    <a:p>
                      <a:pPr>
                        <a:buNone/>
                      </a:pPr>
                      <a:r>
                        <a:rPr lang="en-US" sz="2800" dirty="0">
                          <a:latin typeface="Arial" panose="020B0604020202020204" pitchFamily="34" charset="0"/>
                          <a:cs typeface="Arial" panose="020B0604020202020204" pitchFamily="34" charset="0"/>
                        </a:rPr>
                        <a:t>Affinity Propagation</a:t>
                      </a:r>
                    </a:p>
                  </a:txBody>
                  <a:tcPr anchor="ctr"/>
                </a:tc>
                <a:tc>
                  <a:txBody>
                    <a:bodyPr/>
                    <a:lstStyle/>
                    <a:p>
                      <a:pPr>
                        <a:buNone/>
                      </a:pPr>
                      <a:r>
                        <a:rPr lang="en-US" sz="2800" dirty="0">
                          <a:latin typeface="Arial" panose="020B0604020202020204" pitchFamily="34" charset="0"/>
                          <a:cs typeface="Arial" panose="020B0604020202020204" pitchFamily="34" charset="0"/>
                        </a:rPr>
                        <a:t>Z-Score</a:t>
                      </a:r>
                    </a:p>
                  </a:txBody>
                  <a:tcPr anchor="ctr"/>
                </a:tc>
                <a:tc>
                  <a:txBody>
                    <a:bodyPr/>
                    <a:lstStyle/>
                    <a:p>
                      <a:pPr>
                        <a:buNone/>
                      </a:pPr>
                      <a:r>
                        <a:rPr lang="en-US" sz="2800" dirty="0">
                          <a:latin typeface="Monaco" pitchFamily="2" charset="77"/>
                        </a:rPr>
                        <a:t>17.98</a:t>
                      </a:r>
                    </a:p>
                  </a:txBody>
                  <a:tcPr anchor="ctr"/>
                </a:tc>
                <a:tc>
                  <a:txBody>
                    <a:bodyPr/>
                    <a:lstStyle/>
                    <a:p>
                      <a:pPr>
                        <a:buNone/>
                      </a:pPr>
                      <a:r>
                        <a:rPr lang="en-US" sz="2800">
                          <a:latin typeface="Monaco" pitchFamily="2" charset="77"/>
                        </a:rPr>
                        <a:t>-0.09</a:t>
                      </a:r>
                    </a:p>
                  </a:txBody>
                  <a:tcPr anchor="ctr"/>
                </a:tc>
                <a:extLst>
                  <a:ext uri="{0D108BD9-81ED-4DB2-BD59-A6C34878D82A}">
                    <a16:rowId xmlns:a16="http://schemas.microsoft.com/office/drawing/2014/main" val="2557403675"/>
                  </a:ext>
                </a:extLst>
              </a:tr>
              <a:tr h="950271">
                <a:tc>
                  <a:txBody>
                    <a:bodyPr/>
                    <a:lstStyle/>
                    <a:p>
                      <a:pPr>
                        <a:buNone/>
                      </a:pPr>
                      <a:r>
                        <a:rPr lang="en-US" sz="2800">
                          <a:latin typeface="Arial" panose="020B0604020202020204" pitchFamily="34" charset="0"/>
                          <a:cs typeface="Arial" panose="020B0604020202020204" pitchFamily="34" charset="0"/>
                        </a:rPr>
                        <a:t>Affinity Propagation</a:t>
                      </a:r>
                    </a:p>
                  </a:txBody>
                  <a:tcPr anchor="ctr"/>
                </a:tc>
                <a:tc>
                  <a:txBody>
                    <a:bodyPr/>
                    <a:lstStyle/>
                    <a:p>
                      <a:pPr>
                        <a:buNone/>
                      </a:pPr>
                      <a:r>
                        <a:rPr lang="en-US" sz="2800" dirty="0">
                          <a:latin typeface="Arial" panose="020B0604020202020204" pitchFamily="34" charset="0"/>
                          <a:cs typeface="Arial" panose="020B0604020202020204" pitchFamily="34" charset="0"/>
                        </a:rPr>
                        <a:t>Bollinger</a:t>
                      </a:r>
                    </a:p>
                  </a:txBody>
                  <a:tcPr anchor="ctr"/>
                </a:tc>
                <a:tc>
                  <a:txBody>
                    <a:bodyPr/>
                    <a:lstStyle/>
                    <a:p>
                      <a:pPr>
                        <a:buNone/>
                      </a:pPr>
                      <a:r>
                        <a:rPr lang="en-US" sz="2800" dirty="0">
                          <a:latin typeface="Monaco" pitchFamily="2" charset="77"/>
                        </a:rPr>
                        <a:t>13.53</a:t>
                      </a:r>
                    </a:p>
                  </a:txBody>
                  <a:tcPr anchor="ctr"/>
                </a:tc>
                <a:tc>
                  <a:txBody>
                    <a:bodyPr/>
                    <a:lstStyle/>
                    <a:p>
                      <a:pPr>
                        <a:buNone/>
                      </a:pPr>
                      <a:r>
                        <a:rPr lang="en-US" sz="2800" dirty="0">
                          <a:latin typeface="Monaco" pitchFamily="2" charset="77"/>
                        </a:rPr>
                        <a:t>-0.05</a:t>
                      </a:r>
                    </a:p>
                  </a:txBody>
                  <a:tcPr anchor="ctr"/>
                </a:tc>
                <a:extLst>
                  <a:ext uri="{0D108BD9-81ED-4DB2-BD59-A6C34878D82A}">
                    <a16:rowId xmlns:a16="http://schemas.microsoft.com/office/drawing/2014/main" val="2316826185"/>
                  </a:ext>
                </a:extLst>
              </a:tr>
              <a:tr h="654631">
                <a:tc>
                  <a:txBody>
                    <a:bodyPr/>
                    <a:lstStyle/>
                    <a:p>
                      <a:pPr>
                        <a:buNone/>
                      </a:pPr>
                      <a:r>
                        <a:rPr lang="en-US" sz="2800">
                          <a:latin typeface="Arial" panose="020B0604020202020204" pitchFamily="34" charset="0"/>
                          <a:cs typeface="Arial" panose="020B0604020202020204" pitchFamily="34" charset="0"/>
                        </a:rPr>
                        <a:t>Kointegration</a:t>
                      </a:r>
                    </a:p>
                  </a:txBody>
                  <a:tcPr anchor="ctr"/>
                </a:tc>
                <a:tc>
                  <a:txBody>
                    <a:bodyPr/>
                    <a:lstStyle/>
                    <a:p>
                      <a:pPr>
                        <a:buNone/>
                      </a:pPr>
                      <a:r>
                        <a:rPr lang="en-US" sz="2800" dirty="0">
                          <a:latin typeface="Arial" panose="020B0604020202020204" pitchFamily="34" charset="0"/>
                          <a:cs typeface="Arial" panose="020B0604020202020204" pitchFamily="34" charset="0"/>
                        </a:rPr>
                        <a:t>Z-Score</a:t>
                      </a:r>
                    </a:p>
                  </a:txBody>
                  <a:tcPr anchor="ctr"/>
                </a:tc>
                <a:tc>
                  <a:txBody>
                    <a:bodyPr/>
                    <a:lstStyle/>
                    <a:p>
                      <a:pPr>
                        <a:buNone/>
                      </a:pPr>
                      <a:r>
                        <a:rPr lang="en-US" sz="2800" dirty="0">
                          <a:latin typeface="Monaco" pitchFamily="2" charset="77"/>
                        </a:rPr>
                        <a:t>-1.13</a:t>
                      </a:r>
                    </a:p>
                  </a:txBody>
                  <a:tcPr anchor="ctr"/>
                </a:tc>
                <a:tc>
                  <a:txBody>
                    <a:bodyPr/>
                    <a:lstStyle/>
                    <a:p>
                      <a:pPr>
                        <a:buNone/>
                      </a:pPr>
                      <a:r>
                        <a:rPr lang="en-US" sz="2800">
                          <a:latin typeface="Monaco" pitchFamily="2" charset="77"/>
                        </a:rPr>
                        <a:t>-3.87</a:t>
                      </a:r>
                    </a:p>
                  </a:txBody>
                  <a:tcPr anchor="ctr"/>
                </a:tc>
                <a:extLst>
                  <a:ext uri="{0D108BD9-81ED-4DB2-BD59-A6C34878D82A}">
                    <a16:rowId xmlns:a16="http://schemas.microsoft.com/office/drawing/2014/main" val="1981368839"/>
                  </a:ext>
                </a:extLst>
              </a:tr>
              <a:tr h="654631">
                <a:tc>
                  <a:txBody>
                    <a:bodyPr/>
                    <a:lstStyle/>
                    <a:p>
                      <a:pPr>
                        <a:buNone/>
                      </a:pPr>
                      <a:r>
                        <a:rPr lang="en-US" sz="2800" dirty="0" err="1">
                          <a:latin typeface="Arial" panose="020B0604020202020204" pitchFamily="34" charset="0"/>
                          <a:cs typeface="Arial" panose="020B0604020202020204" pitchFamily="34" charset="0"/>
                        </a:rPr>
                        <a:t>Kointegration</a:t>
                      </a:r>
                      <a:endParaRPr lang="en-US" sz="2800" dirty="0">
                        <a:latin typeface="Arial" panose="020B0604020202020204" pitchFamily="34" charset="0"/>
                        <a:cs typeface="Arial" panose="020B0604020202020204" pitchFamily="34" charset="0"/>
                      </a:endParaRPr>
                    </a:p>
                  </a:txBody>
                  <a:tcPr anchor="ctr"/>
                </a:tc>
                <a:tc>
                  <a:txBody>
                    <a:bodyPr/>
                    <a:lstStyle/>
                    <a:p>
                      <a:pPr>
                        <a:buNone/>
                      </a:pPr>
                      <a:r>
                        <a:rPr lang="en-US" sz="2800" dirty="0">
                          <a:latin typeface="Arial" panose="020B0604020202020204" pitchFamily="34" charset="0"/>
                          <a:cs typeface="Arial" panose="020B0604020202020204" pitchFamily="34" charset="0"/>
                        </a:rPr>
                        <a:t>Bollinger</a:t>
                      </a:r>
                    </a:p>
                  </a:txBody>
                  <a:tcPr anchor="ctr"/>
                </a:tc>
                <a:tc>
                  <a:txBody>
                    <a:bodyPr/>
                    <a:lstStyle/>
                    <a:p>
                      <a:pPr>
                        <a:buNone/>
                      </a:pPr>
                      <a:r>
                        <a:rPr lang="en-US" sz="2800" dirty="0">
                          <a:latin typeface="Monaco" pitchFamily="2" charset="77"/>
                        </a:rPr>
                        <a:t>-11.21</a:t>
                      </a:r>
                    </a:p>
                  </a:txBody>
                  <a:tcPr anchor="ctr"/>
                </a:tc>
                <a:tc>
                  <a:txBody>
                    <a:bodyPr/>
                    <a:lstStyle/>
                    <a:p>
                      <a:pPr>
                        <a:buNone/>
                      </a:pPr>
                      <a:r>
                        <a:rPr lang="en-US" sz="2800" dirty="0">
                          <a:latin typeface="Monaco" pitchFamily="2" charset="77"/>
                        </a:rPr>
                        <a:t>-11.99</a:t>
                      </a:r>
                    </a:p>
                  </a:txBody>
                  <a:tcPr anchor="ctr"/>
                </a:tc>
                <a:extLst>
                  <a:ext uri="{0D108BD9-81ED-4DB2-BD59-A6C34878D82A}">
                    <a16:rowId xmlns:a16="http://schemas.microsoft.com/office/drawing/2014/main" val="876726087"/>
                  </a:ext>
                </a:extLst>
              </a:tr>
            </a:tbl>
          </a:graphicData>
        </a:graphic>
      </p:graphicFrame>
      <p:sp>
        <p:nvSpPr>
          <p:cNvPr id="110" name="Titel 3">
            <a:extLst>
              <a:ext uri="{FF2B5EF4-FFF2-40B4-BE49-F238E27FC236}">
                <a16:creationId xmlns:a16="http://schemas.microsoft.com/office/drawing/2014/main" id="{049F8249-B96C-84FC-4BB0-E4BBD1ECD113}"/>
              </a:ext>
            </a:extLst>
          </p:cNvPr>
          <p:cNvSpPr txBox="1">
            <a:spLocks/>
          </p:cNvSpPr>
          <p:nvPr/>
        </p:nvSpPr>
        <p:spPr>
          <a:xfrm>
            <a:off x="20816895" y="6999102"/>
            <a:ext cx="16695329" cy="1342754"/>
          </a:xfrm>
          <a:prstGeom prst="rect">
            <a:avLst/>
          </a:prstGeom>
        </p:spPr>
        <p:txBody>
          <a:bodyPr vert="horz" lIns="367085" tIns="183543" rIns="367085" bIns="183543" rtlCol="0" anchor="t">
            <a:noAutofit/>
          </a:bodyPr>
          <a:lstStyle>
            <a:lvl1pPr algn="l" defTabSz="4258627" rtl="0" eaLnBrk="1" latinLnBrk="0" hangingPunct="1">
              <a:lnSpc>
                <a:spcPts val="11217"/>
              </a:lnSpc>
              <a:spcBef>
                <a:spcPct val="0"/>
              </a:spcBef>
              <a:buNone/>
              <a:defRPr sz="9000" kern="1200">
                <a:solidFill>
                  <a:schemeClr val="tx1"/>
                </a:solidFill>
                <a:latin typeface="Georgia" panose="02040502050405020303" pitchFamily="18" charset="0"/>
                <a:ea typeface="+mj-ea"/>
                <a:cs typeface="+mj-cs"/>
              </a:defRPr>
            </a:lvl1pPr>
          </a:lstStyle>
          <a:p>
            <a:pPr>
              <a:lnSpc>
                <a:spcPct val="100000"/>
              </a:lnSpc>
            </a:pPr>
            <a:r>
              <a:rPr lang="pt-BR" sz="6000" dirty="0" err="1"/>
              <a:t>Details</a:t>
            </a:r>
            <a:r>
              <a:rPr lang="pt-BR" sz="6000" dirty="0"/>
              <a:t> &amp; </a:t>
            </a:r>
            <a:r>
              <a:rPr lang="pt-BR" sz="6000" dirty="0" err="1"/>
              <a:t>Backtester</a:t>
            </a:r>
            <a:endParaRPr lang="de-DE" sz="8000" dirty="0"/>
          </a:p>
        </p:txBody>
      </p:sp>
      <p:pic>
        <p:nvPicPr>
          <p:cNvPr id="114" name="Graphic 113">
            <a:extLst>
              <a:ext uri="{FF2B5EF4-FFF2-40B4-BE49-F238E27FC236}">
                <a16:creationId xmlns:a16="http://schemas.microsoft.com/office/drawing/2014/main" id="{E81B0B26-70FA-C68C-E400-00E18F5AF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831398" y="8134791"/>
            <a:ext cx="4466813" cy="4466813"/>
          </a:xfrm>
          <a:prstGeom prst="rect">
            <a:avLst/>
          </a:prstGeom>
        </p:spPr>
      </p:pic>
      <p:sp>
        <p:nvSpPr>
          <p:cNvPr id="3" name="TextBox 2">
            <a:extLst>
              <a:ext uri="{FF2B5EF4-FFF2-40B4-BE49-F238E27FC236}">
                <a16:creationId xmlns:a16="http://schemas.microsoft.com/office/drawing/2014/main" id="{FA81A520-1E12-5893-DDCD-E1E0E2FE7544}"/>
              </a:ext>
            </a:extLst>
          </p:cNvPr>
          <p:cNvSpPr txBox="1"/>
          <p:nvPr/>
        </p:nvSpPr>
        <p:spPr>
          <a:xfrm>
            <a:off x="25317423" y="9654146"/>
            <a:ext cx="4516144" cy="1446550"/>
          </a:xfrm>
          <a:prstGeom prst="rect">
            <a:avLst/>
          </a:prstGeom>
          <a:noFill/>
        </p:spPr>
        <p:txBody>
          <a:bodyPr wrap="square">
            <a:spAutoFit/>
          </a:bodyPr>
          <a:lstStyle/>
          <a:p>
            <a:r>
              <a:rPr lang="en-US" sz="4400" dirty="0" err="1">
                <a:latin typeface="Monaco" pitchFamily="2" charset="77"/>
              </a:rPr>
              <a:t>tinyurl.com</a:t>
            </a:r>
            <a:r>
              <a:rPr lang="en-US" sz="4400" dirty="0">
                <a:latin typeface="Monaco" pitchFamily="2" charset="77"/>
              </a:rPr>
              <a:t>/</a:t>
            </a:r>
            <a:br>
              <a:rPr lang="en-US" sz="4400" dirty="0">
                <a:latin typeface="Monaco" pitchFamily="2" charset="77"/>
              </a:rPr>
            </a:br>
            <a:r>
              <a:rPr lang="en-US" sz="4400" dirty="0" err="1">
                <a:latin typeface="Monaco" pitchFamily="2" charset="77"/>
              </a:rPr>
              <a:t>pairtrade</a:t>
            </a:r>
            <a:endParaRPr lang="en-US" sz="4400" dirty="0">
              <a:latin typeface="Monaco" pitchFamily="2" charset="77"/>
            </a:endParaRPr>
          </a:p>
        </p:txBody>
      </p:sp>
    </p:spTree>
    <p:extLst>
      <p:ext uri="{BB962C8B-B14F-4D97-AF65-F5344CB8AC3E}">
        <p14:creationId xmlns:p14="http://schemas.microsoft.com/office/powerpoint/2010/main" val="2230046672"/>
      </p:ext>
    </p:extLst>
  </p:cSld>
  <p:clrMapOvr>
    <a:masterClrMapping/>
  </p:clrMapOvr>
</p:sld>
</file>

<file path=ppt/theme/theme1.xml><?xml version="1.0" encoding="utf-8"?>
<a:theme xmlns:a="http://schemas.openxmlformats.org/drawingml/2006/main" name="MOS_Master_Wirtschaft_250614">
  <a:themeElements>
    <a:clrScheme name="MOS">
      <a:dk1>
        <a:srgbClr val="5D686E"/>
      </a:dk1>
      <a:lt1>
        <a:sysClr val="window" lastClr="FFFFFF"/>
      </a:lt1>
      <a:dk2>
        <a:srgbClr val="5D686E"/>
      </a:dk2>
      <a:lt2>
        <a:srgbClr val="FFFFFF"/>
      </a:lt2>
      <a:accent1>
        <a:srgbClr val="E30613"/>
      </a:accent1>
      <a:accent2>
        <a:srgbClr val="293743"/>
      </a:accent2>
      <a:accent3>
        <a:srgbClr val="9BA5AA"/>
      </a:accent3>
      <a:accent4>
        <a:srgbClr val="D5DADD"/>
      </a:accent4>
      <a:accent5>
        <a:srgbClr val="EFF1F2"/>
      </a:accent5>
      <a:accent6>
        <a:srgbClr val="FFFFFF"/>
      </a:accent6>
      <a:hlink>
        <a:srgbClr val="000000"/>
      </a:hlink>
      <a:folHlink>
        <a:srgbClr val="000000"/>
      </a:folHlink>
    </a:clrScheme>
    <a:fontScheme name="MOS">
      <a:majorFont>
        <a:latin typeface="Generis Serif Com"/>
        <a:ea typeface=""/>
        <a:cs typeface=""/>
      </a:majorFont>
      <a:minorFont>
        <a:latin typeface="Generis Sans Com"/>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spAutoFit/>
      </a:bodyPr>
      <a:lstStyle>
        <a:defPPr>
          <a:defRPr sz="3600" b="1" dirty="0"/>
        </a:defPPr>
      </a:lstStyle>
    </a:txDef>
  </a:objectDefaults>
  <a:extraClrSchemeLst/>
</a:theme>
</file>

<file path=docProps/app.xml><?xml version="1.0" encoding="utf-8"?>
<Properties xmlns="http://schemas.openxmlformats.org/officeDocument/2006/extended-properties" xmlns:vt="http://schemas.openxmlformats.org/officeDocument/2006/docPropsVTypes">
  <Template>MOS_Master_Wirtschaft_250614</Template>
  <TotalTime>2991</TotalTime>
  <Words>375</Words>
  <Application>Microsoft Macintosh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Generis Sans Com</vt:lpstr>
      <vt:lpstr>Georgia</vt:lpstr>
      <vt:lpstr>Monaco</vt:lpstr>
      <vt:lpstr>MOS_Master_Wirtschaft_250614</vt:lpstr>
      <vt:lpstr>Exploring Machine Learning Optimizatios for Pair Selection in Pairs Trading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in Generis Serif Com  90 Punkt, maximal 2 Zeilen</dc:title>
  <dc:creator>bmayer</dc:creator>
  <cp:lastModifiedBy>Mueller, Maximilian MM. (415)</cp:lastModifiedBy>
  <cp:revision>53</cp:revision>
  <cp:lastPrinted>2014-05-28T13:58:56Z</cp:lastPrinted>
  <dcterms:created xsi:type="dcterms:W3CDTF">2014-06-25T11:12:07Z</dcterms:created>
  <dcterms:modified xsi:type="dcterms:W3CDTF">2025-09-14T16:36:45Z</dcterms:modified>
</cp:coreProperties>
</file>